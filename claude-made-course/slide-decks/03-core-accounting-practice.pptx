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141B49"/>
          </a:solidFill>
          <a:ln/>
        </p:spPr>
      </p:sp>
      <p:sp>
        <p:nvSpPr>
          <p:cNvPr id="3" name="Shape 1"/>
          <p:cNvSpPr/>
          <p:nvPr/>
        </p:nvSpPr>
        <p:spPr>
          <a:xfrm>
            <a:off x="-1371600" y="4754880"/>
            <a:ext cx="3200400" cy="3200400"/>
          </a:xfrm>
          <a:prstGeom prst="ellipse">
            <a:avLst/>
          </a:prstGeom>
          <a:solidFill>
            <a:srgbClr val="141B49"/>
          </a:solidFill>
          <a:ln/>
        </p:spPr>
      </p:sp>
      <p:sp>
        <p:nvSpPr>
          <p:cNvPr id="4" name="Text 2"/>
          <p:cNvSpPr/>
          <p:nvPr/>
        </p:nvSpPr>
        <p:spPr>
          <a:xfrm>
            <a:off x="731520" y="1463040"/>
            <a:ext cx="9144000" cy="365760"/>
          </a:xfrm>
          <a:prstGeom prst="rect">
            <a:avLst/>
          </a:prstGeom>
          <a:noFill/>
          <a:ln/>
        </p:spPr>
        <p:txBody>
          <a:bodyPr wrap="square"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MODULE 03 · SKARION MANUFACTURING LLC</a:t>
            </a:r>
            <a:endParaRPr lang="en-US" sz="1300" dirty="0"/>
          </a:p>
        </p:txBody>
      </p:sp>
      <p:sp>
        <p:nvSpPr>
          <p:cNvPr id="5" name="Text 3"/>
          <p:cNvSpPr/>
          <p:nvPr/>
        </p:nvSpPr>
        <p:spPr>
          <a:xfrm>
            <a:off x="731520" y="1920240"/>
            <a:ext cx="10241280" cy="14630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Core Accounting Practice: The January Close</a:t>
            </a:r>
            <a:endParaRPr lang="en-US" sz="4000" dirty="0"/>
          </a:p>
        </p:txBody>
      </p:sp>
      <p:sp>
        <p:nvSpPr>
          <p:cNvPr id="6" name="Text 4"/>
          <p:cNvSpPr/>
          <p:nvPr/>
        </p:nvSpPr>
        <p:spPr>
          <a:xfrm>
            <a:off x="731520" y="3429000"/>
            <a:ext cx="9601200" cy="1005840"/>
          </a:xfrm>
          <a:prstGeom prst="rect">
            <a:avLst/>
          </a:prstGeom>
          <a:noFill/>
          <a:ln/>
        </p:spPr>
        <p:txBody>
          <a:bodyPr wrap="square" rtlCol="0" anchor="ctr"/>
          <a:lstStyle/>
          <a:p>
            <a:pPr indent="0" marL="0">
              <a:lnSpc>
                <a:spcPct val="130000"/>
              </a:lnSpc>
              <a:buNone/>
            </a:pPr>
            <a:r>
              <a:rPr lang="en-US" sz="1600" dirty="0">
                <a:solidFill>
                  <a:srgbClr val="CADCFC"/>
                </a:solidFill>
                <a:latin typeface="Calibri" pitchFamily="34" charset="0"/>
                <a:ea typeface="Calibri" pitchFamily="34" charset="-122"/>
                <a:cs typeface="Calibri" pitchFamily="34" charset="-120"/>
              </a:rPr>
              <a:t>One company. One month. Every entry connects to the next.</a:t>
            </a:r>
            <a:endParaRPr lang="en-US" sz="1600" dirty="0"/>
          </a:p>
        </p:txBody>
      </p:sp>
      <p:sp>
        <p:nvSpPr>
          <p:cNvPr id="7" name="Shape 5"/>
          <p:cNvSpPr/>
          <p:nvPr/>
        </p:nvSpPr>
        <p:spPr>
          <a:xfrm>
            <a:off x="731520" y="4663440"/>
            <a:ext cx="3291840" cy="457200"/>
          </a:xfrm>
          <a:prstGeom prst="roundRect">
            <a:avLst>
              <a:gd name="adj" fmla="val 50000"/>
            </a:avLst>
          </a:prstGeom>
          <a:solidFill>
            <a:srgbClr val="141B49"/>
          </a:solidFill>
          <a:ln w="12700">
            <a:solidFill>
              <a:srgbClr val="E8A33D"/>
            </a:solidFill>
            <a:prstDash val="solid"/>
          </a:ln>
        </p:spPr>
      </p:sp>
      <p:sp>
        <p:nvSpPr>
          <p:cNvPr id="8" name="Text 6"/>
          <p:cNvSpPr/>
          <p:nvPr/>
        </p:nvSpPr>
        <p:spPr>
          <a:xfrm>
            <a:off x="731520" y="4663440"/>
            <a:ext cx="3291840" cy="45720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Day 3</a:t>
            </a:r>
            <a:endParaRPr lang="en-US" sz="1100" dirty="0"/>
          </a:p>
        </p:txBody>
      </p:sp>
      <p:sp>
        <p:nvSpPr>
          <p:cNvPr id="9" name="Text 7"/>
          <p:cNvSpPr/>
          <p:nvPr/>
        </p:nvSpPr>
        <p:spPr>
          <a:xfrm>
            <a:off x="731520" y="6309360"/>
            <a:ext cx="7315200" cy="274320"/>
          </a:xfrm>
          <a:prstGeom prst="rect">
            <a:avLst/>
          </a:prstGeom>
          <a:noFill/>
          <a:ln/>
        </p:spPr>
        <p:txBody>
          <a:bodyPr wrap="square" rtlCol="0" anchor="ctr"/>
          <a:lstStyle/>
          <a:p>
            <a:pPr indent="0" marL="0">
              <a:buNone/>
            </a:pPr>
            <a:r>
              <a:rPr lang="en-US" sz="1000" spc="100" kern="0" dirty="0">
                <a:solidFill>
                  <a:srgbClr val="5B6472"/>
                </a:solidFill>
                <a:latin typeface="Calibri" pitchFamily="34" charset="0"/>
                <a:ea typeface="Calibri" pitchFamily="34" charset="-122"/>
                <a:cs typeface="Calibri" pitchFamily="34" charset="-120"/>
              </a:rPr>
              <a:t>SKARION ACCOUNTING TRACK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a:t>
            </a:r>
            <a:endParaRPr lang="en-US" sz="1600" dirty="0"/>
          </a:p>
        </p:txBody>
      </p:sp>
      <p:sp>
        <p:nvSpPr>
          <p:cNvPr id="4" name="Shape 2"/>
          <p:cNvSpPr/>
          <p:nvPr/>
        </p:nvSpPr>
        <p:spPr>
          <a:xfrm>
            <a:off x="1280160" y="1463040"/>
            <a:ext cx="9601200" cy="3657600"/>
          </a:xfrm>
          <a:prstGeom prst="roundRect">
            <a:avLst>
              <a:gd name="adj" fmla="val 3000"/>
            </a:avLst>
          </a:prstGeom>
          <a:solidFill>
            <a:srgbClr val="FFFFFF"/>
          </a:solidFill>
          <a:ln/>
          <a:effectLst>
            <a:outerShdw sx="100000" sy="100000" kx="0" ky="0" algn="bl" rotWithShape="0" blurRad="152400" dist="50800" dir="5400000">
              <a:srgbClr val="808080">
                <a:alpha val="25000"/>
              </a:srgbClr>
            </a:outerShdw>
          </a:effectLst>
        </p:spPr>
      </p:sp>
      <p:sp>
        <p:nvSpPr>
          <p:cNvPr id="5" name="Text 3"/>
          <p:cNvSpPr/>
          <p:nvPr/>
        </p:nvSpPr>
        <p:spPr>
          <a:xfrm>
            <a:off x="1737360" y="1828800"/>
            <a:ext cx="86868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WHY THIS MATTERS</a:t>
            </a:r>
            <a:endParaRPr lang="en-US" sz="1200" dirty="0"/>
          </a:p>
        </p:txBody>
      </p:sp>
      <p:sp>
        <p:nvSpPr>
          <p:cNvPr id="6" name="Text 4"/>
          <p:cNvSpPr/>
          <p:nvPr/>
        </p:nvSpPr>
        <p:spPr>
          <a:xfrm>
            <a:off x="1737360" y="2286000"/>
            <a:ext cx="8686800" cy="2560320"/>
          </a:xfrm>
          <a:prstGeom prst="rect">
            <a:avLst/>
          </a:prstGeom>
          <a:noFill/>
          <a:ln/>
        </p:spPr>
        <p:txBody>
          <a:bodyPr wrap="square" rtlCol="0" anchor="ctr"/>
          <a:lstStyle/>
          <a:p>
            <a:pPr indent="0" marL="0">
              <a:lnSpc>
                <a:spcPct val="140000"/>
              </a:lnSpc>
              <a:buNone/>
            </a:pPr>
            <a:r>
              <a:rPr lang="en-US" sz="2200" i="1" dirty="0">
                <a:solidFill>
                  <a:srgbClr val="1E2761"/>
                </a:solidFill>
                <a:latin typeface="Cambria" pitchFamily="34" charset="0"/>
                <a:ea typeface="Cambria" pitchFamily="34" charset="-122"/>
                <a:cs typeface="Cambria" pitchFamily="34" charset="-120"/>
              </a:rPr>
              <a:t>Skarion Manufacturing LLC just finished January. AP bills came in, AR invoices went out with Virginia sales tax, fifteen people got paid twice, ten machines quietly lost value, and the bank statement doesn't quite match QuickBooks. Your job this module: work the real numbers the way a staff accountant would.</a:t>
            </a:r>
            <a:endParaRPr lang="en-US" sz="22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03 · Skarion Manufacturing LLC</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01</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SETUP</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One continuous company, one continuous story</a:t>
            </a:r>
            <a:endParaRPr lang="en-US" sz="2600" dirty="0"/>
          </a:p>
        </p:txBody>
      </p:sp>
      <p:sp>
        <p:nvSpPr>
          <p:cNvPr id="6" name="Text 4"/>
          <p:cNvSpPr/>
          <p:nvPr/>
        </p:nvSpPr>
        <p:spPr>
          <a:xfrm>
            <a:off x="731520" y="1874520"/>
            <a:ext cx="640080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Skarion Manufacturing LLC is a small B2B manufacturer in Manassas, Virginia, building telecom, utility, data-center, and facility hardware. It runs on the accrual basis, calendar year, with a monthly close.</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Every exercise in this module comes from the same January 2026 packet: the same vendor bills, the same customer invoices, the same fifteen employees, the same ten fixed assets, and the same bank statement. Nothing here is a standalone drill. The AP total feeds the cash balance. The AR invoices feed the sales tax payable. The payroll run feeds the cash balance again. By the end of the month, everything has to tie out &amp;mdash; and when it doesn't (a duplicate deposit, a miscoded payment), that's not a typo in the exercise. That's the job.</a:t>
            </a:r>
            <a:endParaRPr lang="en-US" sz="1500" dirty="0"/>
          </a:p>
        </p:txBody>
      </p:sp>
      <p:sp>
        <p:nvSpPr>
          <p:cNvPr id="7" name="Shape 5"/>
          <p:cNvSpPr/>
          <p:nvPr/>
        </p:nvSpPr>
        <p:spPr>
          <a:xfrm>
            <a:off x="7406640" y="1874520"/>
            <a:ext cx="4023360" cy="3566160"/>
          </a:xfrm>
          <a:prstGeom prst="roundRect">
            <a:avLst>
              <a:gd name="adj" fmla="val 2564"/>
            </a:avLst>
          </a:prstGeom>
          <a:solidFill>
            <a:srgbClr val="EEF3FC"/>
          </a:solidFill>
          <a:ln/>
        </p:spPr>
      </p:sp>
      <p:sp>
        <p:nvSpPr>
          <p:cNvPr id="8" name="Shape 6"/>
          <p:cNvSpPr/>
          <p:nvPr/>
        </p:nvSpPr>
        <p:spPr>
          <a:xfrm>
            <a:off x="7680960" y="2148840"/>
            <a:ext cx="365760" cy="365760"/>
          </a:xfrm>
          <a:prstGeom prst="ellipse">
            <a:avLst/>
          </a:prstGeom>
          <a:solidFill>
            <a:srgbClr val="1E2761"/>
          </a:solidFill>
          <a:ln/>
        </p:spPr>
      </p:sp>
      <p:sp>
        <p:nvSpPr>
          <p:cNvPr id="9" name="Text 7"/>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1E2761"/>
                </a:solidFill>
                <a:latin typeface="Calibri" pitchFamily="34" charset="0"/>
                <a:ea typeface="Calibri" pitchFamily="34" charset="-122"/>
                <a:cs typeface="Calibri" pitchFamily="34" charset="-120"/>
              </a:rPr>
              <a:t>STORY</a:t>
            </a:r>
            <a:endParaRPr lang="en-US" sz="1000" dirty="0"/>
          </a:p>
        </p:txBody>
      </p:sp>
      <p:sp>
        <p:nvSpPr>
          <p:cNvPr id="10" name="Text 8"/>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Opening balances on Jan 1: Operating Checking $132,500.00 , Accounts Receivable $118,400.00 , Accounts Payable $82,300.00 , and a brand-new bank loan of $250,000.00 from Blue Ridge Commercial Bank at 7.25% fixed. Everything that follows moves those four numbers.</a:t>
            </a:r>
            <a:endParaRPr lang="en-US" sz="1250" dirty="0"/>
          </a:p>
        </p:txBody>
      </p:sp>
      <p:sp>
        <p:nvSpPr>
          <p:cNvPr id="11" name="Text 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03 · Skarion Manufacturing LLC</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02</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FOUNDATIONS</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The chart of accounts and the accounting equation</a:t>
            </a:r>
            <a:endParaRPr lang="en-US" sz="2600" dirty="0"/>
          </a:p>
        </p:txBody>
      </p:sp>
      <p:sp>
        <p:nvSpPr>
          <p:cNvPr id="6" name="Text 4"/>
          <p:cNvSpPr/>
          <p:nvPr/>
        </p:nvSpPr>
        <p:spPr>
          <a:xfrm>
            <a:off x="731520" y="1874520"/>
            <a:ext cx="640080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Assets: 1000 Operating Checking, 1100 Accounts Receivable, 1200 Inventory &amp;ndash; Raw Materials, 1500 Fixed Assets, 1590 Accumulated Depreciation</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Liabilities: 2000 Accounts Payable, 2100 Sales Tax Payable, 2200 Payroll Liabilities, 2300 Accrued Expenses, 2500 Loan Payable</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Revenue / COGS: 4000 Sales Revenue, 4050 Sales Discounts, 4100 Sales Returns and Allowances, 5000 Cost of Goods Sold</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Expenses: 6100 Rent, 6200 Utilities, 6300 Wages, 6310 Employer Payroll Taxes, 6320 Employee Benefits, 6330 Payroll Service Fees, 6700 Depreciation, 6800 Interest</a:t>
            </a:r>
            <a:endParaRPr lang="en-US" sz="1500" dirty="0"/>
          </a:p>
        </p:txBody>
      </p:sp>
      <p:sp>
        <p:nvSpPr>
          <p:cNvPr id="7" name="Shape 5"/>
          <p:cNvSpPr/>
          <p:nvPr/>
        </p:nvSpPr>
        <p:spPr>
          <a:xfrm>
            <a:off x="7406640" y="1874520"/>
            <a:ext cx="4023360" cy="3566160"/>
          </a:xfrm>
          <a:prstGeom prst="roundRect">
            <a:avLst>
              <a:gd name="adj" fmla="val 2564"/>
            </a:avLst>
          </a:prstGeom>
          <a:solidFill>
            <a:srgbClr val="FFF7E8"/>
          </a:solidFill>
          <a:ln/>
        </p:spPr>
      </p:sp>
      <p:sp>
        <p:nvSpPr>
          <p:cNvPr id="8" name="Shape 6"/>
          <p:cNvSpPr/>
          <p:nvPr/>
        </p:nvSpPr>
        <p:spPr>
          <a:xfrm>
            <a:off x="7680960" y="2148840"/>
            <a:ext cx="365760" cy="365760"/>
          </a:xfrm>
          <a:prstGeom prst="ellipse">
            <a:avLst/>
          </a:prstGeom>
          <a:solidFill>
            <a:srgbClr val="E8A33D"/>
          </a:solidFill>
          <a:ln/>
        </p:spPr>
      </p:sp>
      <p:sp>
        <p:nvSpPr>
          <p:cNvPr id="9" name="Text 7"/>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TIP</a:t>
            </a:r>
            <a:endParaRPr lang="en-US" sz="1000" dirty="0"/>
          </a:p>
        </p:txBody>
      </p:sp>
      <p:sp>
        <p:nvSpPr>
          <p:cNvPr id="10" name="Text 8"/>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When you're not sure which side an account goes on, ask: is this account an asset/expense (debit to increase) or a liability/revenue (credit to increase)? Get that right and the rest is arithmetic.</a:t>
            </a:r>
            <a:endParaRPr lang="en-US" sz="1250" dirty="0"/>
          </a:p>
        </p:txBody>
      </p:sp>
      <p:sp>
        <p:nvSpPr>
          <p:cNvPr id="11" name="Text 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03 · Skarion Manufacturing LLC</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03</a:t>
            </a:r>
            <a:endParaRPr lang="en-US" sz="1600" dirty="0"/>
          </a:p>
        </p:txBody>
      </p:sp>
      <p:sp>
        <p:nvSpPr>
          <p:cNvPr id="4" name="Text 2"/>
          <p:cNvSpPr/>
          <p:nvPr/>
        </p:nvSpPr>
        <p:spPr>
          <a:xfrm>
            <a:off x="1234440" y="502920"/>
            <a:ext cx="9144000" cy="54864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Know the accounts before you post to them</a:t>
            </a:r>
            <a:endParaRPr lang="en-US" sz="2400" dirty="0"/>
          </a:p>
        </p:txBody>
      </p:sp>
      <p:sp>
        <p:nvSpPr>
          <p:cNvPr id="5" name="Shape 3"/>
          <p:cNvSpPr/>
          <p:nvPr/>
        </p:nvSpPr>
        <p:spPr>
          <a:xfrm>
            <a:off x="731520" y="1417320"/>
            <a:ext cx="3520440" cy="1874520"/>
          </a:xfrm>
          <a:prstGeom prst="roundRect">
            <a:avLst>
              <a:gd name="adj" fmla="val 4390"/>
            </a:avLst>
          </a:prstGeom>
          <a:solidFill>
            <a:srgbClr val="EEF3FC"/>
          </a:solidFill>
          <a:ln/>
        </p:spPr>
      </p:sp>
      <p:sp>
        <p:nvSpPr>
          <p:cNvPr id="6" name="Text 4"/>
          <p:cNvSpPr/>
          <p:nvPr/>
        </p:nvSpPr>
        <p:spPr>
          <a:xfrm>
            <a:off x="96012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1100 Accounts Receivable</a:t>
            </a:r>
            <a:endParaRPr lang="en-US" sz="1450" dirty="0"/>
          </a:p>
        </p:txBody>
      </p:sp>
      <p:sp>
        <p:nvSpPr>
          <p:cNvPr id="7" name="Text 5"/>
          <p:cNvSpPr/>
          <p:nvPr/>
        </p:nvSpPr>
        <p:spPr>
          <a:xfrm>
            <a:off x="96012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Asset. Money customers owe Skarion for invoices not yet paid. Debit to record a new invoice; credit when cash comes in or a credit memo is issued.</a:t>
            </a:r>
            <a:endParaRPr lang="en-US" sz="1050" dirty="0"/>
          </a:p>
        </p:txBody>
      </p:sp>
      <p:sp>
        <p:nvSpPr>
          <p:cNvPr id="8" name="Shape 6"/>
          <p:cNvSpPr/>
          <p:nvPr/>
        </p:nvSpPr>
        <p:spPr>
          <a:xfrm>
            <a:off x="4480560" y="1417320"/>
            <a:ext cx="3520440" cy="1874520"/>
          </a:xfrm>
          <a:prstGeom prst="roundRect">
            <a:avLst>
              <a:gd name="adj" fmla="val 4390"/>
            </a:avLst>
          </a:prstGeom>
          <a:solidFill>
            <a:srgbClr val="EEF3FC"/>
          </a:solidFill>
          <a:ln/>
        </p:spPr>
      </p:sp>
      <p:sp>
        <p:nvSpPr>
          <p:cNvPr id="9" name="Text 7"/>
          <p:cNvSpPr/>
          <p:nvPr/>
        </p:nvSpPr>
        <p:spPr>
          <a:xfrm>
            <a:off x="470916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2000 Accounts Payable</a:t>
            </a:r>
            <a:endParaRPr lang="en-US" sz="1450" dirty="0"/>
          </a:p>
        </p:txBody>
      </p:sp>
      <p:sp>
        <p:nvSpPr>
          <p:cNvPr id="10" name="Text 8"/>
          <p:cNvSpPr/>
          <p:nvPr/>
        </p:nvSpPr>
        <p:spPr>
          <a:xfrm>
            <a:off x="470916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Liability. Money Skarion owes vendors for bills not yet paid. Credit to record a new bill; debit when Skarion pays it.</a:t>
            </a:r>
            <a:endParaRPr lang="en-US" sz="1050" dirty="0"/>
          </a:p>
        </p:txBody>
      </p:sp>
      <p:sp>
        <p:nvSpPr>
          <p:cNvPr id="11" name="Shape 9"/>
          <p:cNvSpPr/>
          <p:nvPr/>
        </p:nvSpPr>
        <p:spPr>
          <a:xfrm>
            <a:off x="8229600" y="1417320"/>
            <a:ext cx="3520440" cy="1874520"/>
          </a:xfrm>
          <a:prstGeom prst="roundRect">
            <a:avLst>
              <a:gd name="adj" fmla="val 4390"/>
            </a:avLst>
          </a:prstGeom>
          <a:solidFill>
            <a:srgbClr val="EEF3FC"/>
          </a:solidFill>
          <a:ln/>
        </p:spPr>
      </p:sp>
      <p:sp>
        <p:nvSpPr>
          <p:cNvPr id="12" name="Text 10"/>
          <p:cNvSpPr/>
          <p:nvPr/>
        </p:nvSpPr>
        <p:spPr>
          <a:xfrm>
            <a:off x="845820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2100 Sales Tax Payable</a:t>
            </a:r>
            <a:endParaRPr lang="en-US" sz="1450" dirty="0"/>
          </a:p>
        </p:txBody>
      </p:sp>
      <p:sp>
        <p:nvSpPr>
          <p:cNvPr id="13" name="Text 11"/>
          <p:cNvSpPr/>
          <p:nvPr/>
        </p:nvSpPr>
        <p:spPr>
          <a:xfrm>
            <a:off x="845820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Liability. Virginia's 5.3% sales tax collected on taxable invoices, held until remitted to the state. Not every invoice is taxable &amp;mdash; some Skarion customers are tax-exempt.</a:t>
            </a:r>
            <a:endParaRPr lang="en-US" sz="1050" dirty="0"/>
          </a:p>
        </p:txBody>
      </p:sp>
      <p:sp>
        <p:nvSpPr>
          <p:cNvPr id="14" name="Shape 12"/>
          <p:cNvSpPr/>
          <p:nvPr/>
        </p:nvSpPr>
        <p:spPr>
          <a:xfrm>
            <a:off x="731520" y="3520440"/>
            <a:ext cx="3520440" cy="1874520"/>
          </a:xfrm>
          <a:prstGeom prst="roundRect">
            <a:avLst>
              <a:gd name="adj" fmla="val 4390"/>
            </a:avLst>
          </a:prstGeom>
          <a:solidFill>
            <a:srgbClr val="EEF3FC"/>
          </a:solidFill>
          <a:ln/>
        </p:spPr>
      </p:sp>
      <p:sp>
        <p:nvSpPr>
          <p:cNvPr id="15" name="Text 13"/>
          <p:cNvSpPr/>
          <p:nvPr/>
        </p:nvSpPr>
        <p:spPr>
          <a:xfrm>
            <a:off x="96012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1590 Accumulated Depreciation</a:t>
            </a:r>
            <a:endParaRPr lang="en-US" sz="1450" dirty="0"/>
          </a:p>
        </p:txBody>
      </p:sp>
      <p:sp>
        <p:nvSpPr>
          <p:cNvPr id="16" name="Text 14"/>
          <p:cNvSpPr/>
          <p:nvPr/>
        </p:nvSpPr>
        <p:spPr>
          <a:xfrm>
            <a:off x="96012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Contra-asset. Tracks total depreciation taken on Fixed Assets over time. It carries a credit balance and nets against 1500 Fixed Assets on the balance sheet.</a:t>
            </a:r>
            <a:endParaRPr lang="en-US" sz="1050" dirty="0"/>
          </a:p>
        </p:txBody>
      </p:sp>
      <p:sp>
        <p:nvSpPr>
          <p:cNvPr id="17" name="Shape 15"/>
          <p:cNvSpPr/>
          <p:nvPr/>
        </p:nvSpPr>
        <p:spPr>
          <a:xfrm>
            <a:off x="4480560" y="3520440"/>
            <a:ext cx="3520440" cy="1874520"/>
          </a:xfrm>
          <a:prstGeom prst="roundRect">
            <a:avLst>
              <a:gd name="adj" fmla="val 4390"/>
            </a:avLst>
          </a:prstGeom>
          <a:solidFill>
            <a:srgbClr val="EEF3FC"/>
          </a:solidFill>
          <a:ln/>
        </p:spPr>
      </p:sp>
      <p:sp>
        <p:nvSpPr>
          <p:cNvPr id="18" name="Text 16"/>
          <p:cNvSpPr/>
          <p:nvPr/>
        </p:nvSpPr>
        <p:spPr>
          <a:xfrm>
            <a:off x="470916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2200 Payroll Liabilities</a:t>
            </a:r>
            <a:endParaRPr lang="en-US" sz="1450" dirty="0"/>
          </a:p>
        </p:txBody>
      </p:sp>
      <p:sp>
        <p:nvSpPr>
          <p:cNvPr id="19" name="Text 17"/>
          <p:cNvSpPr/>
          <p:nvPr/>
        </p:nvSpPr>
        <p:spPr>
          <a:xfrm>
            <a:off x="470916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Liability. Everything withheld from an employee's paycheck (federal, Virginia, Social Security, Medicare, 401k, health) plus employer taxes owed, until paid out.</a:t>
            </a:r>
            <a:endParaRPr lang="en-US" sz="1050" dirty="0"/>
          </a:p>
        </p:txBody>
      </p:sp>
      <p:sp>
        <p:nvSpPr>
          <p:cNvPr id="20" name="Shape 18"/>
          <p:cNvSpPr/>
          <p:nvPr/>
        </p:nvSpPr>
        <p:spPr>
          <a:xfrm>
            <a:off x="8229600" y="3520440"/>
            <a:ext cx="3520440" cy="1874520"/>
          </a:xfrm>
          <a:prstGeom prst="roundRect">
            <a:avLst>
              <a:gd name="adj" fmla="val 4390"/>
            </a:avLst>
          </a:prstGeom>
          <a:solidFill>
            <a:srgbClr val="EEF3FC"/>
          </a:solidFill>
          <a:ln/>
        </p:spPr>
      </p:sp>
      <p:sp>
        <p:nvSpPr>
          <p:cNvPr id="21" name="Text 19"/>
          <p:cNvSpPr/>
          <p:nvPr/>
        </p:nvSpPr>
        <p:spPr>
          <a:xfrm>
            <a:off x="845820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2500 Loan Payable</a:t>
            </a:r>
            <a:endParaRPr lang="en-US" sz="1450" dirty="0"/>
          </a:p>
        </p:txBody>
      </p:sp>
      <p:sp>
        <p:nvSpPr>
          <p:cNvPr id="22" name="Text 20"/>
          <p:cNvSpPr/>
          <p:nvPr/>
        </p:nvSpPr>
        <p:spPr>
          <a:xfrm>
            <a:off x="845820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Liability. The $250,000 Blue Ridge Commercial Bank loan balance. Only the principal portion of a payment reduces this account; interest hits 6800 Interest Expense.</a:t>
            </a:r>
            <a:endParaRPr lang="en-US" sz="1050" dirty="0"/>
          </a:p>
        </p:txBody>
      </p:sp>
      <p:sp>
        <p:nvSpPr>
          <p:cNvPr id="23" name="Text 21"/>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03 · Skarion Manufacturing LLC</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04</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ACCOUNTS RECEIVABLE</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Invoicing with Virginia sales tax</a:t>
            </a:r>
            <a:endParaRPr lang="en-US" sz="2600" dirty="0"/>
          </a:p>
        </p:txBody>
      </p:sp>
      <p:sp>
        <p:nvSpPr>
          <p:cNvPr id="6" name="Text 4"/>
          <p:cNvSpPr/>
          <p:nvPr/>
        </p:nvSpPr>
        <p:spPr>
          <a:xfrm>
            <a:off x="731520" y="1874520"/>
            <a:ext cx="640080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Skarion charges 5.3% Virginia sales tax on taxable customer invoices only &amp;mdash; some customers, like Hampton Roads Data Centers and Dulles Cloud Campus, are tax-exempt. Tax is calculated on the invoice subtotal and posted to 2100 Sales Tax Payable, not 4000 Sales Revenue.</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Take invoice SMI-2601-007 , billed to Coastal Electric &amp; Controls on Jan 17, terms 2/10 Net 30: subtotal $9,200.00, tax at 5.3% = $487.60, invoice total $9,687.60.</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Coastal Electric paid within the 10-day discount window on Jan 27. The 2% discount applies to the subtotal only: $9,200.00 &amp;times; 2% = $184.00 discount, so cash collected was $9,200.00 &amp;minus; $184.00 + $487.60 tax = $9,503.60 . That's the exact ACH deposit that shows up on Skarion's bank statement.</a:t>
            </a:r>
            <a:endParaRPr lang="en-US" sz="1500" dirty="0"/>
          </a:p>
        </p:txBody>
      </p:sp>
      <p:sp>
        <p:nvSpPr>
          <p:cNvPr id="7" name="Shape 5"/>
          <p:cNvSpPr/>
          <p:nvPr/>
        </p:nvSpPr>
        <p:spPr>
          <a:xfrm>
            <a:off x="7406640" y="1874520"/>
            <a:ext cx="4023360" cy="3566160"/>
          </a:xfrm>
          <a:prstGeom prst="roundRect">
            <a:avLst>
              <a:gd name="adj" fmla="val 2564"/>
            </a:avLst>
          </a:prstGeom>
          <a:solidFill>
            <a:srgbClr val="FFF3DE"/>
          </a:solidFill>
          <a:ln/>
        </p:spPr>
      </p:sp>
      <p:sp>
        <p:nvSpPr>
          <p:cNvPr id="8" name="Shape 6"/>
          <p:cNvSpPr/>
          <p:nvPr/>
        </p:nvSpPr>
        <p:spPr>
          <a:xfrm>
            <a:off x="7680960" y="2148840"/>
            <a:ext cx="365760" cy="365760"/>
          </a:xfrm>
          <a:prstGeom prst="ellipse">
            <a:avLst/>
          </a:prstGeom>
          <a:solidFill>
            <a:srgbClr val="C9862B"/>
          </a:solidFill>
          <a:ln/>
        </p:spPr>
      </p:sp>
      <p:sp>
        <p:nvSpPr>
          <p:cNvPr id="9" name="Text 7"/>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C9862B"/>
                </a:solidFill>
                <a:latin typeface="Calibri" pitchFamily="34" charset="0"/>
                <a:ea typeface="Calibri" pitchFamily="34" charset="-122"/>
                <a:cs typeface="Calibri" pitchFamily="34" charset="-120"/>
              </a:rPr>
              <a:t>WARNING</a:t>
            </a:r>
            <a:endParaRPr lang="en-US" sz="1000" dirty="0"/>
          </a:p>
        </p:txBody>
      </p:sp>
      <p:sp>
        <p:nvSpPr>
          <p:cNvPr id="10" name="Text 8"/>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Early-payment discounts reduce the subtotal, never the sales tax. Skarion still owes Virginia the full $487.60 on this invoice, even though it collected less cash from the customer.</a:t>
            </a:r>
            <a:endParaRPr lang="en-US" sz="1250" dirty="0"/>
          </a:p>
        </p:txBody>
      </p:sp>
      <p:sp>
        <p:nvSpPr>
          <p:cNvPr id="11" name="Text 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03 · Skarion Manufacturing LLC</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05</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PAYROLL</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Fifteen employees, one semi-monthly run</a:t>
            </a:r>
            <a:endParaRPr lang="en-US" sz="2600" dirty="0"/>
          </a:p>
        </p:txBody>
      </p:sp>
      <p:sp>
        <p:nvSpPr>
          <p:cNvPr id="6" name="Text 4"/>
          <p:cNvSpPr/>
          <p:nvPr/>
        </p:nvSpPr>
        <p:spPr>
          <a:xfrm>
            <a:off x="731520" y="1874520"/>
            <a:ext cx="640080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Skarion runs semi-monthly payroll &amp;mdash; 24 pay periods a year &amp;mdash; for fifteen employees, from General Manager Jordan Miller down to four Manufacturing Technicians. Each pay period, Skarion withholds federal and Virginia income tax (employee-specific rates), 6.2% Social Security, 1.45% Medicare, and each employee's 401k and health elections. On top of gross pay, Skarion also owes employer payroll taxes and a flat $350/employee/month benefits contribution.</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One semi-monthly run: gross pay $33,916.67 , net pay $24,414.85 . Across January's two runs: gross wages $67,833.33 , employer payroll taxes $6,003.25 , employer benefits expense $5,250.00 (15 employees &amp;times; $350). Total net cash paid to employees in January: $48,829.71 .</a:t>
            </a:r>
            <a:endParaRPr lang="en-US" sz="1500" dirty="0"/>
          </a:p>
        </p:txBody>
      </p:sp>
      <p:sp>
        <p:nvSpPr>
          <p:cNvPr id="7" name="Shape 5"/>
          <p:cNvSpPr/>
          <p:nvPr/>
        </p:nvSpPr>
        <p:spPr>
          <a:xfrm>
            <a:off x="7406640" y="1874520"/>
            <a:ext cx="4023360" cy="3566160"/>
          </a:xfrm>
          <a:prstGeom prst="roundRect">
            <a:avLst>
              <a:gd name="adj" fmla="val 2564"/>
            </a:avLst>
          </a:prstGeom>
          <a:solidFill>
            <a:srgbClr val="FFF7E8"/>
          </a:solidFill>
          <a:ln/>
        </p:spPr>
      </p:sp>
      <p:sp>
        <p:nvSpPr>
          <p:cNvPr id="8" name="Shape 6"/>
          <p:cNvSpPr/>
          <p:nvPr/>
        </p:nvSpPr>
        <p:spPr>
          <a:xfrm>
            <a:off x="7680960" y="2148840"/>
            <a:ext cx="365760" cy="365760"/>
          </a:xfrm>
          <a:prstGeom prst="ellipse">
            <a:avLst/>
          </a:prstGeom>
          <a:solidFill>
            <a:srgbClr val="E8A33D"/>
          </a:solidFill>
          <a:ln/>
        </p:spPr>
      </p:sp>
      <p:sp>
        <p:nvSpPr>
          <p:cNvPr id="9" name="Text 7"/>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TIP</a:t>
            </a:r>
            <a:endParaRPr lang="en-US" sz="1000" dirty="0"/>
          </a:p>
        </p:txBody>
      </p:sp>
      <p:sp>
        <p:nvSpPr>
          <p:cNvPr id="10" name="Text 8"/>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Gross wages, employer payroll taxes, and employer benefits are all real expenses to Skarion &amp;mdash; but only the net pay amount actually leaves the checking account on payday. Everything withheld sits in 2200 Payroll Liabilities until it's remitted.</a:t>
            </a:r>
            <a:endParaRPr lang="en-US" sz="1250" dirty="0"/>
          </a:p>
        </p:txBody>
      </p:sp>
      <p:sp>
        <p:nvSpPr>
          <p:cNvPr id="11" name="Text 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03 · Skarion Manufacturing LLC</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06</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FIXED ASSETS</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Depreciation on ten machines, straight-line</a:t>
            </a:r>
            <a:endParaRPr lang="en-US" sz="2600" dirty="0"/>
          </a:p>
        </p:txBody>
      </p:sp>
      <p:sp>
        <p:nvSpPr>
          <p:cNvPr id="6" name="Text 4"/>
          <p:cNvSpPr/>
          <p:nvPr/>
        </p:nvSpPr>
        <p:spPr>
          <a:xfrm>
            <a:off x="731520" y="1874520"/>
            <a:ext cx="640080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Skarion depreciates all ten fixed assets straight-line with no salvage value. The rule: if an asset goes into service on or before the 15th of the month, it gets a full month of depreciation for that month.</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Example: FA-010, Label Printer &amp; Packaging Line , purchased Jan 10, 2026 for $12,400.00 with a 5-year useful life. Since it entered service on the 10th (before the 15th), it earns a full month of January depreciation: $12,400.00 &amp;divide; 5 years &amp;divide; 12 months = $206.67 .</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Add up monthly depreciation across all ten assets &amp;mdash; CNC Brake Press, Laser Cutter, Forklift, Delivery Van, Air Compressor, Office Furniture, Computers, QA Testing Station, Pallet Racking, and the Label Printer &amp;mdash; and January's total depreciation expense is $5,208.10 .</a:t>
            </a:r>
            <a:endParaRPr lang="en-US" sz="1500" dirty="0"/>
          </a:p>
        </p:txBody>
      </p:sp>
      <p:sp>
        <p:nvSpPr>
          <p:cNvPr id="7" name="Shape 5"/>
          <p:cNvSpPr/>
          <p:nvPr/>
        </p:nvSpPr>
        <p:spPr>
          <a:xfrm>
            <a:off x="7406640" y="1874520"/>
            <a:ext cx="4023360" cy="3566160"/>
          </a:xfrm>
          <a:prstGeom prst="roundRect">
            <a:avLst>
              <a:gd name="adj" fmla="val 2564"/>
            </a:avLst>
          </a:prstGeom>
          <a:solidFill>
            <a:srgbClr val="EEF3FC"/>
          </a:solidFill>
          <a:ln/>
        </p:spPr>
      </p:sp>
      <p:sp>
        <p:nvSpPr>
          <p:cNvPr id="8" name="Shape 6"/>
          <p:cNvSpPr/>
          <p:nvPr/>
        </p:nvSpPr>
        <p:spPr>
          <a:xfrm>
            <a:off x="7680960" y="2148840"/>
            <a:ext cx="365760" cy="365760"/>
          </a:xfrm>
          <a:prstGeom prst="ellipse">
            <a:avLst/>
          </a:prstGeom>
          <a:solidFill>
            <a:srgbClr val="1E2761"/>
          </a:solidFill>
          <a:ln/>
        </p:spPr>
      </p:sp>
      <p:sp>
        <p:nvSpPr>
          <p:cNvPr id="9" name="Text 7"/>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1E2761"/>
                </a:solidFill>
                <a:latin typeface="Calibri" pitchFamily="34" charset="0"/>
                <a:ea typeface="Calibri" pitchFamily="34" charset="-122"/>
                <a:cs typeface="Calibri" pitchFamily="34" charset="-120"/>
              </a:rPr>
              <a:t>STORY</a:t>
            </a:r>
            <a:endParaRPr lang="en-US" sz="1000" dirty="0"/>
          </a:p>
        </p:txBody>
      </p:sp>
      <p:sp>
        <p:nvSpPr>
          <p:cNvPr id="10" name="Text 8"/>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Month-end journal entry: Debit 6700 Depreciation Expense $5,208.10; Credit 1590 Accumulated Depreciation $5,208.10. One entry, ten assets, no cash movement &amp;mdash; depreciation is a non-cash expense.</a:t>
            </a:r>
            <a:endParaRPr lang="en-US" sz="1250" dirty="0"/>
          </a:p>
        </p:txBody>
      </p:sp>
      <p:sp>
        <p:nvSpPr>
          <p:cNvPr id="11" name="Text 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03 · Skarion Manufacturing LLC</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241280" y="-1097280"/>
            <a:ext cx="3657600" cy="3657600"/>
          </a:xfrm>
          <a:prstGeom prst="ellipse">
            <a:avLst/>
          </a:prstGeom>
          <a:solidFill>
            <a:srgbClr val="141B49"/>
          </a:solidFill>
          <a:ln/>
        </p:spPr>
      </p:sp>
      <p:sp>
        <p:nvSpPr>
          <p:cNvPr id="3" name="Text 1"/>
          <p:cNvSpPr/>
          <p:nvPr/>
        </p:nvSpPr>
        <p:spPr>
          <a:xfrm>
            <a:off x="731520" y="502920"/>
            <a:ext cx="54864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SELF-CHECK</a:t>
            </a:r>
            <a:endParaRPr lang="en-US" sz="1200" dirty="0"/>
          </a:p>
        </p:txBody>
      </p:sp>
      <p:sp>
        <p:nvSpPr>
          <p:cNvPr id="4" name="Text 2"/>
          <p:cNvSpPr/>
          <p:nvPr/>
        </p:nvSpPr>
        <p:spPr>
          <a:xfrm>
            <a:off x="731520" y="868680"/>
            <a:ext cx="10058400" cy="64008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numbers</a:t>
            </a:r>
            <a:endParaRPr lang="en-US" sz="2400" dirty="0"/>
          </a:p>
        </p:txBody>
      </p:sp>
      <p:sp>
        <p:nvSpPr>
          <p:cNvPr id="5" name="Shape 3"/>
          <p:cNvSpPr/>
          <p:nvPr/>
        </p:nvSpPr>
        <p:spPr>
          <a:xfrm>
            <a:off x="731520" y="1783080"/>
            <a:ext cx="384048" cy="384048"/>
          </a:xfrm>
          <a:prstGeom prst="ellipse">
            <a:avLst/>
          </a:prstGeom>
          <a:solidFill>
            <a:srgbClr val="E8A33D"/>
          </a:solidFill>
          <a:ln/>
        </p:spPr>
      </p:sp>
      <p:sp>
        <p:nvSpPr>
          <p:cNvPr id="6" name="Text 4"/>
          <p:cNvSpPr/>
          <p:nvPr/>
        </p:nvSpPr>
        <p:spPr>
          <a:xfrm>
            <a:off x="731520" y="178308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80160" y="176479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Skarion's opening Accounts Payable balance on Jan 1 was $82,300.00. Total January vendor bills were $68,975.00 and January bills paid totaled $26,710.00. What was ending January AP (from January bills only, before adding the opening balance)?</a:t>
            </a:r>
            <a:endParaRPr lang="en-US" sz="1400" dirty="0"/>
          </a:p>
        </p:txBody>
      </p:sp>
      <p:sp>
        <p:nvSpPr>
          <p:cNvPr id="8" name="Shape 6"/>
          <p:cNvSpPr/>
          <p:nvPr/>
        </p:nvSpPr>
        <p:spPr>
          <a:xfrm>
            <a:off x="731520" y="3200400"/>
            <a:ext cx="384048" cy="384048"/>
          </a:xfrm>
          <a:prstGeom prst="ellipse">
            <a:avLst/>
          </a:prstGeom>
          <a:solidFill>
            <a:srgbClr val="E8A33D"/>
          </a:solidFill>
          <a:ln/>
        </p:spPr>
      </p:sp>
      <p:sp>
        <p:nvSpPr>
          <p:cNvPr id="9" name="Text 7"/>
          <p:cNvSpPr/>
          <p:nvPr/>
        </p:nvSpPr>
        <p:spPr>
          <a:xfrm>
            <a:off x="731520" y="320040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80160" y="318211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Invoice SMI-2601-007 to Coastal Electric &amp; Controls had a subtotal of $9,200.00 and was taxable at Virginia's 5.3% rate. What was the sales tax on this invoice?</a:t>
            </a:r>
            <a:endParaRPr lang="en-US" sz="1400" dirty="0"/>
          </a:p>
        </p:txBody>
      </p:sp>
      <p:sp>
        <p:nvSpPr>
          <p:cNvPr id="11" name="Shape 9"/>
          <p:cNvSpPr/>
          <p:nvPr/>
        </p:nvSpPr>
        <p:spPr>
          <a:xfrm>
            <a:off x="731520" y="4617720"/>
            <a:ext cx="384048" cy="384048"/>
          </a:xfrm>
          <a:prstGeom prst="ellipse">
            <a:avLst/>
          </a:prstGeom>
          <a:solidFill>
            <a:srgbClr val="E8A33D"/>
          </a:solidFill>
          <a:ln/>
        </p:spPr>
      </p:sp>
      <p:sp>
        <p:nvSpPr>
          <p:cNvPr id="12" name="Text 10"/>
          <p:cNvSpPr/>
          <p:nvPr/>
        </p:nvSpPr>
        <p:spPr>
          <a:xfrm>
            <a:off x="731520" y="461772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280160" y="459943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Skarion's Jan 27 QuickBooks ledger shows two separate $9,503.60 deposits from Coastal Electric &amp; Controls for the same invoice, but the bank statement shows only one. What's the correct adjusting entry to fix the books?</a:t>
            </a:r>
            <a:endParaRPr lang="en-US" sz="1400" dirty="0"/>
          </a:p>
        </p:txBody>
      </p:sp>
      <p:sp>
        <p:nvSpPr>
          <p:cNvPr id="14" name="Text 12"/>
          <p:cNvSpPr/>
          <p:nvPr/>
        </p:nvSpPr>
        <p:spPr>
          <a:xfrm>
            <a:off x="731520" y="6309360"/>
            <a:ext cx="9144000" cy="274320"/>
          </a:xfrm>
          <a:prstGeom prst="rect">
            <a:avLst/>
          </a:prstGeom>
          <a:noFill/>
          <a:ln/>
        </p:spPr>
        <p:txBody>
          <a:bodyPr wrap="square" rtlCol="0" anchor="ctr"/>
          <a:lstStyle/>
          <a:p>
            <a:pPr indent="0" marL="0">
              <a:buNone/>
            </a:pPr>
            <a:r>
              <a:rPr lang="en-US" sz="1000" i="1" dirty="0">
                <a:solidFill>
                  <a:srgbClr val="5B6472"/>
                </a:solidFill>
                <a:latin typeface="Calibri" pitchFamily="34" charset="0"/>
                <a:ea typeface="Calibri" pitchFamily="34" charset="-122"/>
                <a:cs typeface="Calibri" pitchFamily="34" charset="-120"/>
              </a:rPr>
              <a:t>Answer choices and full explanations are in the interactive lesson.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08</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PRACTICE: JOURNAL ENTRY</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Fix the duplicate deposit</a:t>
            </a:r>
            <a:endParaRPr lang="en-US" sz="2200" dirty="0"/>
          </a:p>
        </p:txBody>
      </p:sp>
      <p:sp>
        <p:nvSpPr>
          <p:cNvPr id="6" name="Shape 4"/>
          <p:cNvSpPr/>
          <p:nvPr/>
        </p:nvSpPr>
        <p:spPr>
          <a:xfrm>
            <a:off x="731520" y="1691640"/>
            <a:ext cx="10698480" cy="1051560"/>
          </a:xfrm>
          <a:prstGeom prst="roundRect">
            <a:avLst>
              <a:gd name="adj" fmla="val 6957"/>
            </a:avLst>
          </a:prstGeom>
          <a:solidFill>
            <a:srgbClr val="EEF3FC"/>
          </a:solidFill>
          <a:ln/>
        </p:spPr>
      </p:sp>
      <p:sp>
        <p:nvSpPr>
          <p:cNvPr id="7" name="Text 5"/>
          <p:cNvSpPr/>
          <p:nvPr/>
        </p:nvSpPr>
        <p:spPr>
          <a:xfrm>
            <a:off x="1005840" y="1810512"/>
            <a:ext cx="10149840" cy="822960"/>
          </a:xfrm>
          <a:prstGeom prst="rect">
            <a:avLst/>
          </a:prstGeom>
          <a:noFill/>
          <a:ln/>
        </p:spPr>
        <p:txBody>
          <a:bodyPr wrap="square" rtlCol="0" anchor="ctr"/>
          <a:lstStyle/>
          <a:p>
            <a:pPr indent="0" marL="0">
              <a:lnSpc>
                <a:spcPct val="125000"/>
              </a:lnSpc>
              <a:buNone/>
            </a:pPr>
            <a:r>
              <a:rPr lang="en-US" sz="1250" dirty="0">
                <a:solidFill>
                  <a:srgbClr val="20242E"/>
                </a:solidFill>
                <a:latin typeface="Calibri" pitchFamily="34" charset="0"/>
                <a:ea typeface="Calibri" pitchFamily="34" charset="-122"/>
                <a:cs typeface="Calibri" pitchFamily="34" charset="-120"/>
              </a:rPr>
              <a:t>On Jan 27, Coastal Electric &amp; Controls paid invoice SMI-2601-007 by ACH for $9,503.60 (the discounted, tax-included amount). Skarion's bookkeeper recorded the deposit correctly &amp;mdash; then accidentally entered it a second time in QuickBooks the same day, labeled &amp;ldquo;Duplicate deposit from Coastal Electric &amp; Controls &amp;ndash; Entered by mistake.&amp;rdquo; The bank statement confirms only one $9,503.60 deposit actually cleared. The duplicate entry incorrectly cleared the invoice a second time in the books, even though the customer only paid once and revenue was never overstated. Build the month-end correcting entry to reinstate the receivable and remove the phantom cash.</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463040" y="3063240"/>
          <a:ext cx="7315200" cy="914400"/>
        </p:xfrm>
        <a:graphic>
          <a:graphicData uri="http://schemas.openxmlformats.org/drawingml/2006/table">
            <a:tbl>
              <a:tblPr/>
              <a:tblGrid>
                <a:gridCol w="4023360"/>
                <a:gridCol w="1645920"/>
                <a:gridCol w="16459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Debit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Credit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1100 Accounts Receivable</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$9503.60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1000 Operating Checking</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$9503.60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9" name="Text 6"/>
          <p:cNvSpPr/>
          <p:nvPr/>
        </p:nvSpPr>
        <p:spPr>
          <a:xfrm>
            <a:off x="731520" y="6309360"/>
            <a:ext cx="9601200" cy="274320"/>
          </a:xfrm>
          <a:prstGeom prst="rect">
            <a:avLst/>
          </a:prstGeom>
          <a:noFill/>
          <a:ln/>
        </p:spPr>
        <p:txBody>
          <a:bodyPr wrap="square"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Answer key — hidden from students in the interactive version until they submit their own entry.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09</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HANDS-ON EXERCISE</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Work the full January close</a:t>
            </a:r>
            <a:endParaRPr lang="en-US" sz="2400" dirty="0"/>
          </a:p>
        </p:txBody>
      </p:sp>
      <p:sp>
        <p:nvSpPr>
          <p:cNvPr id="6" name="Shape 4"/>
          <p:cNvSpPr/>
          <p:nvPr/>
        </p:nvSpPr>
        <p:spPr>
          <a:xfrm>
            <a:off x="731520" y="1737360"/>
            <a:ext cx="6675120" cy="4023360"/>
          </a:xfrm>
          <a:prstGeom prst="roundRect">
            <a:avLst>
              <a:gd name="adj" fmla="val 2273"/>
            </a:avLst>
          </a:prstGeom>
          <a:solidFill>
            <a:srgbClr val="FFFFFF"/>
          </a:solidFill>
          <a:ln/>
        </p:spPr>
      </p:sp>
      <p:sp>
        <p:nvSpPr>
          <p:cNvPr id="7" name="Text 5"/>
          <p:cNvSpPr/>
          <p:nvPr/>
        </p:nvSpPr>
        <p:spPr>
          <a:xfrm>
            <a:off x="1005840" y="1965960"/>
            <a:ext cx="6126480" cy="3566160"/>
          </a:xfrm>
          <a:prstGeom prst="rect">
            <a:avLst/>
          </a:prstGeom>
          <a:noFill/>
          <a:ln/>
        </p:spPr>
        <p:txBody>
          <a:bodyPr wrap="square" rtlCol="0" anchor="t"/>
          <a:lstStyle/>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Now put it all together. Download the full January packet and work all twelve questions &amp;mdash; AP aging, AR aging with sales tax, payroll for all fifteen employees, depreciation on all ten fixed assets, loan interest, a full bank reconciliation between QuickBooks and the bank statement, month-end adjusting entries, and gross profit at 52% COGS. Use only the data in the packet; don't assume anything that isn't stated.</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The AR Invoice Control Log gives you the full customer-level detail behind the AR numbers, including every payment, short-pay, and discount, if you want to trace a balance back to its source.</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Check your work against the solution key once you've finished &amp;mdash; not before.</a:t>
            </a:r>
            <a:endParaRPr lang="en-US" sz="1350" dirty="0"/>
          </a:p>
        </p:txBody>
      </p:sp>
      <p:sp>
        <p:nvSpPr>
          <p:cNvPr id="8" name="Shape 6"/>
          <p:cNvSpPr/>
          <p:nvPr/>
        </p:nvSpPr>
        <p:spPr>
          <a:xfrm>
            <a:off x="7635240" y="1737360"/>
            <a:ext cx="3794760" cy="594360"/>
          </a:xfrm>
          <a:prstGeom prst="roundRect">
            <a:avLst>
              <a:gd name="adj" fmla="val 49231"/>
            </a:avLst>
          </a:prstGeom>
          <a:solidFill>
            <a:srgbClr val="1E2761"/>
          </a:solidFill>
          <a:ln/>
        </p:spPr>
      </p:sp>
      <p:sp>
        <p:nvSpPr>
          <p:cNvPr id="9" name="Text 7"/>
          <p:cNvSpPr/>
          <p:nvPr/>
        </p:nvSpPr>
        <p:spPr>
          <a:xfrm>
            <a:off x="7818120" y="173736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Skarion Practice Exercise Sheet (January 2026)</a:t>
            </a:r>
            <a:endParaRPr lang="en-US" sz="1100" dirty="0"/>
          </a:p>
        </p:txBody>
      </p:sp>
      <p:sp>
        <p:nvSpPr>
          <p:cNvPr id="10" name="Shape 8"/>
          <p:cNvSpPr/>
          <p:nvPr/>
        </p:nvSpPr>
        <p:spPr>
          <a:xfrm>
            <a:off x="7635240" y="2514600"/>
            <a:ext cx="3794760" cy="594360"/>
          </a:xfrm>
          <a:prstGeom prst="roundRect">
            <a:avLst>
              <a:gd name="adj" fmla="val 49231"/>
            </a:avLst>
          </a:prstGeom>
          <a:solidFill>
            <a:srgbClr val="1E2761"/>
          </a:solidFill>
          <a:ln/>
        </p:spPr>
      </p:sp>
      <p:sp>
        <p:nvSpPr>
          <p:cNvPr id="11" name="Text 9"/>
          <p:cNvSpPr/>
          <p:nvPr/>
        </p:nvSpPr>
        <p:spPr>
          <a:xfrm>
            <a:off x="7818120" y="251460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Skarion Practice Solution Key</a:t>
            </a:r>
            <a:endParaRPr lang="en-US" sz="1100" dirty="0"/>
          </a:p>
        </p:txBody>
      </p:sp>
      <p:sp>
        <p:nvSpPr>
          <p:cNvPr id="12" name="Shape 10"/>
          <p:cNvSpPr/>
          <p:nvPr/>
        </p:nvSpPr>
        <p:spPr>
          <a:xfrm>
            <a:off x="7635240" y="3291840"/>
            <a:ext cx="3794760" cy="594360"/>
          </a:xfrm>
          <a:prstGeom prst="roundRect">
            <a:avLst>
              <a:gd name="adj" fmla="val 49231"/>
            </a:avLst>
          </a:prstGeom>
          <a:solidFill>
            <a:srgbClr val="1E2761"/>
          </a:solidFill>
          <a:ln/>
        </p:spPr>
      </p:sp>
      <p:sp>
        <p:nvSpPr>
          <p:cNvPr id="13" name="Text 11"/>
          <p:cNvSpPr/>
          <p:nvPr/>
        </p:nvSpPr>
        <p:spPr>
          <a:xfrm>
            <a:off x="7818120" y="329184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AR Invoice Control Log</a:t>
            </a:r>
            <a:endParaRPr lang="en-US" sz="1100" dirty="0"/>
          </a:p>
        </p:txBody>
      </p:sp>
      <p:sp>
        <p:nvSpPr>
          <p:cNvPr id="14" name="Shape 12"/>
          <p:cNvSpPr/>
          <p:nvPr/>
        </p:nvSpPr>
        <p:spPr>
          <a:xfrm>
            <a:off x="7635240" y="4846320"/>
            <a:ext cx="3794760" cy="1417320"/>
          </a:xfrm>
          <a:prstGeom prst="roundRect">
            <a:avLst>
              <a:gd name="adj" fmla="val 6452"/>
            </a:avLst>
          </a:prstGeom>
          <a:solidFill>
            <a:srgbClr val="141B49"/>
          </a:solidFill>
          <a:ln/>
        </p:spPr>
      </p:sp>
      <p:sp>
        <p:nvSpPr>
          <p:cNvPr id="15" name="Text 13"/>
          <p:cNvSpPr/>
          <p:nvPr/>
        </p:nvSpPr>
        <p:spPr>
          <a:xfrm>
            <a:off x="7863840" y="4983480"/>
            <a:ext cx="3291840" cy="27432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REFLECT</a:t>
            </a:r>
            <a:endParaRPr lang="en-US" sz="1000" dirty="0"/>
          </a:p>
        </p:txBody>
      </p:sp>
      <p:sp>
        <p:nvSpPr>
          <p:cNvPr id="16" name="Text 14"/>
          <p:cNvSpPr/>
          <p:nvPr/>
        </p:nvSpPr>
        <p:spPr>
          <a:xfrm>
            <a:off x="7863840" y="5257800"/>
            <a:ext cx="3291840" cy="914400"/>
          </a:xfrm>
          <a:prstGeom prst="rect">
            <a:avLst/>
          </a:prstGeom>
          <a:noFill/>
          <a:ln/>
        </p:spPr>
        <p:txBody>
          <a:bodyPr wrap="square" rtlCol="0" anchor="ctr"/>
          <a:lstStyle/>
          <a:p>
            <a:pPr indent="0" marL="0">
              <a:lnSpc>
                <a:spcPct val="120000"/>
              </a:lnSpc>
              <a:buNone/>
            </a:pPr>
            <a:r>
              <a:rPr lang="en-US" sz="1100" i="1" dirty="0">
                <a:solidFill>
                  <a:srgbClr val="CADCFC"/>
                </a:solidFill>
                <a:latin typeface="Calibri" pitchFamily="34" charset="0"/>
                <a:ea typeface="Calibri" pitchFamily="34" charset="-122"/>
                <a:cs typeface="Calibri" pitchFamily="34" charset="-120"/>
              </a:rPr>
              <a:t>Which part of the January close took you the longest, and why? Was it a calculation (like sales tax or depreciation) or a judgment call (like the AP hold or the duplicate deposit)?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937760" y="914400"/>
            <a:ext cx="2286000" cy="2286000"/>
          </a:xfrm>
          <a:prstGeom prst="ellipse">
            <a:avLst/>
          </a:prstGeom>
          <a:solidFill>
            <a:srgbClr val="E8A33D"/>
          </a:solidFill>
          <a:ln/>
        </p:spPr>
      </p:sp>
      <p:sp>
        <p:nvSpPr>
          <p:cNvPr id="3" name="Text 1"/>
          <p:cNvSpPr/>
          <p:nvPr/>
        </p:nvSpPr>
        <p:spPr>
          <a:xfrm>
            <a:off x="4937760" y="914400"/>
            <a:ext cx="2286000" cy="2286000"/>
          </a:xfrm>
          <a:prstGeom prst="rect">
            <a:avLst/>
          </a:prstGeom>
          <a:noFill/>
          <a:ln/>
        </p:spPr>
        <p:txBody>
          <a:bodyPr wrap="square" rtlCol="0" anchor="ctr"/>
          <a:lstStyle/>
          <a:p>
            <a:pPr algn="ctr" indent="0" marL="0">
              <a:buNone/>
            </a:pPr>
            <a:r>
              <a:rPr lang="en-US" sz="6000" b="1" dirty="0">
                <a:solidFill>
                  <a:srgbClr val="141B49"/>
                </a:solidFill>
                <a:latin typeface="Cambria" pitchFamily="34" charset="0"/>
                <a:ea typeface="Cambria" pitchFamily="34" charset="-122"/>
                <a:cs typeface="Cambria" pitchFamily="34" charset="-120"/>
              </a:rPr>
              <a:t>✓</a:t>
            </a:r>
            <a:endParaRPr lang="en-US" sz="6000" dirty="0"/>
          </a:p>
        </p:txBody>
      </p:sp>
      <p:sp>
        <p:nvSpPr>
          <p:cNvPr id="4" name="Text 2"/>
          <p:cNvSpPr/>
          <p:nvPr/>
        </p:nvSpPr>
        <p:spPr>
          <a:xfrm>
            <a:off x="1645920" y="3566160"/>
            <a:ext cx="8869680" cy="73152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Module complete</a:t>
            </a:r>
            <a:endParaRPr lang="en-US" sz="3000" dirty="0"/>
          </a:p>
        </p:txBody>
      </p:sp>
      <p:sp>
        <p:nvSpPr>
          <p:cNvPr id="5" name="Text 3"/>
          <p:cNvSpPr/>
          <p:nvPr/>
        </p:nvSpPr>
        <p:spPr>
          <a:xfrm>
            <a:off x="1645920" y="4206240"/>
            <a:ext cx="8869680" cy="457200"/>
          </a:xfrm>
          <a:prstGeom prst="rect">
            <a:avLst/>
          </a:prstGeom>
          <a:noFill/>
          <a:ln/>
        </p:spPr>
        <p:txBody>
          <a:bodyPr wrap="square"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Core Accounting Practice: The January Close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 Accounting Practice: The January Close</dc:title>
  <dc:subject>PptxGenJS Presentation</dc:subject>
  <dc:creator>Skarion Accounting Track</dc:creator>
  <cp:lastModifiedBy>Skarion Accounting Track</cp:lastModifiedBy>
  <cp:revision>1</cp:revision>
  <dcterms:created xsi:type="dcterms:W3CDTF">2026-07-15T21:10:09Z</dcterms:created>
  <dcterms:modified xsi:type="dcterms:W3CDTF">2026-07-15T21:10:09Z</dcterms:modified>
</cp:coreProperties>
</file>