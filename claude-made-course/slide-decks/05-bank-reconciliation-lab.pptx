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05</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Bank Reconciliation &amp; Cash Posting</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Why the bank balance and the book balance never match on day one, how cash posting actually clears open AR, and the methodical hunt for the real errors hiding inside the timing differences.</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5</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"Walk me through a bank reconciliation." After this module your answer is not generic — it names the two-sided method, the $336,250 adjusted balance, and the duplicate deposit you traced and corrected. That is the answer that gets the offer.</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CONCEPT</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Why the bank balance and the book balance almost never match — and shouldn't</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Deposits in transit — you recorded a customer payment, but it has not hit the bank yet.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Outstanding checks — you wrote and recorded a check, but the vendor hasn't cashed it yet.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Bank fees and interest credits — the bank moved money you haven't booked yet.</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METHOD</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The two-sided reconciliation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3200400"/>
                <a:gridCol w="32004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From the bank side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From the book side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Ending balance per bank statement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Ending balance per your ledger (GL)</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Deposits in transit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Bank credits not yet recorded (interest, etc.)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Outstanding checks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Bank debits not yet recorded (fees, NSF, etc.)</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Real errors found on the bank side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Real errors found on the book side (duplicate deposits, transpositions)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Adjusted bank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Adjusted book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3DE"/>
          </a:solidFill>
          <a:ln/>
        </p:spPr>
      </p:sp>
      <p:sp>
        <p:nvSpPr>
          <p:cNvPr id="8" name="Shape 5"/>
          <p:cNvSpPr/>
          <p:nvPr/>
        </p:nvSpPr>
        <p:spPr>
          <a:xfrm>
            <a:off x="7680960" y="2148840"/>
            <a:ext cx="365760" cy="365760"/>
          </a:xfrm>
          <a:prstGeom prst="ellipse">
            <a:avLst/>
          </a:prstGeom>
          <a:solidFill>
            <a:srgbClr val="C9862B"/>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Never force the books to match the bank. Changing a GL number to equal the bank statement is how errors get buried and fraud gets hidden. The whole point is to explain every cent of the difference, not erase it.</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CASH POSTING</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Applying client payments to open AR</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Receive bank notification of the incoming wire (e.g. $480,000 from Atlantic Fiber Co.).</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Open the AR subledger and identify the open invoice(s) that match the remittance.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Confirm remittance advice from the client — chase it if they didn't send one. Never guess which invoice a payment belongs to.</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Post the receipt : Debit Cash / Credit AR — and close the specific invoice in the subledger so it stops aging.</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If the amount doesn't exactly match: document the short payment, open a dispute ticket, or credit the difference with manager approval. Never silently write off the gap.</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Post a customer wire with an incoming wire fee</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Atlantic Fiber Co. wires $480,000 to settle their open HLD invoice. The bank charges a $25 incoming wire fee, so the net deposit posted to Operating Checking is $479,975 . Record the cash in, the fee to expense, and the clearance of the full $480,000 receivable.</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$479975.00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6900 - Bank Fees Expense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$25.00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1100 - Accounts Receivable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$480000.00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Apply a partial / disputed payment</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Southeast Broadband wires only $190,000 of their $405,000 balance with a note that the remainder is "in dispute." Apply the cash to their oldest invoice and clear that much of the receivable. The disputed remainder stays open in the AR subledger with a dispute flag — it is not written off.</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$190000.00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1100 - Accounts Receivable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$190000.00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08</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A customer check bounces — reinstate the receivable</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TeleCom Builders sends a $50,000 check, which is recorded in the books. The check bounces. The bank reverses the $50,000 deposit and charges a $35 NSF fee. Reinstate the receivable (the customer owes us again) and record the fee the bank charged us.</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1100 - Accounts Receivable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$50000.00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6900 - Bank Fees Expense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$50035.00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09</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The six most common reconciliation problems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Duplicate deposit</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same customer payment is entered in the GL twice. Fix: Debit Accounts Receivable / Credit Cash to reverse the duplicate and reinstate the receivable. Skarion found DEP-0091 ($10,547.10) duplicated.</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Outstanding check</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check written and recorded in the books that the vendor hasn't cashed yet. Subtract it from the bank side — it simply hasn't cleared. Skarion: check #2847 to Global CAD for $4,200.</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Amount transposition</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book entry doesn't match what cleared. Rent recorded as $12,750 but the check cleared at $12,800 — a $50 correcting entry is required on the book side.</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Bank fee not recorded</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monthly service charge, wire fee, or NSF fee hit the bank but was never entered in the books. Book it on the book side: Debit Bank Fees / Credit Cash.</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Deposit in transit</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last-day deposit recorded in the books that has not posted to the bank statement yet. Add it to the bank side — it will appear next month.</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Fraudulent transaction</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An unauthorized ACH debit. Flag immediately, file a bank dispute within the allowed window, and post Debit Due from Bank (or AR) / Credit Cash while the investigation runs.</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10</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WORKED EXAMPLE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Skarion January reconciliation — finding the real error</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5349240"/>
                <a:gridCol w="534924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Bank side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Bank statement ending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$312,450.00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Deposits in transit (Dec 31 receipt)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+$28,000.00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Outstanding check #2847 (Global CAD)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−$4,200.00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Adjusted bank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$336,250.00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Book side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GL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$346,823.60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Unrecorded bank fee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−$45.00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Unrecorded interest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+$18.50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Duplicate deposit (DEP-0091, Southeast Broadband)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−$10,547.10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 Adjusted book balance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$336,250.00 ✓</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Correct the DEP-0091 duplicate deposit</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Customer deposit DEP-0091 ($10,547.10 from Southeast Broadband) was entered twice in the GL. Reverse the duplicate and reinstate the receivable — revenue was never overstated, only cash and AR were.</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1100 - Accounts Receivable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$10547.10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$10547.10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Book the unrecorded monthly bank fee</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The bank charged a $45.00 monthly service fee that was never entered in the books. Record the expense and the corresponding reduction in cash.</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6900 - Bank Fees Expense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$45.00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$45.00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Book the unrecorded interest credit</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The bank credited $18.50 of interest income on the operating account that was never recorded in the books. Cash increases and Interest Income is recognized.</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1000 - Operating Checking</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$18.50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4300 - Interest Income</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$18.50</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Bank reconciliation quiz</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client wires $240,000. Your bank charges a $35 incoming wire fee. What is the net debit to Cash (the amount that actually lands in the operating account)?</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check written to an offshore contractor on January 28th has not cleared by January 31st. Which side of the reconciliation is it on?</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The adjusted bank balance is $336,250 and the adjusted book balance is $336,290. What is true?</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Excel bank reconciliation lab — three months</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Match every transaction between the bank statement and the register.</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Identify the seeded problems (duplicates, wrong amounts, outstanding checks, unrecorded fees — January has 4 items to find and 2 correcting entries).</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Complete the two-sided worksheet until the adjusted balances are exactly $336,250.00 for January.</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January Bank Statement.xlsx</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February Bank Statement.xlsx</a:t>
            </a:r>
            <a:endParaRPr lang="en-US" sz="1100" dirty="0"/>
          </a:p>
        </p:txBody>
      </p:sp>
      <p:sp>
        <p:nvSpPr>
          <p:cNvPr id="12" name="Shape 10"/>
          <p:cNvSpPr/>
          <p:nvPr/>
        </p:nvSpPr>
        <p:spPr>
          <a:xfrm>
            <a:off x="7635240" y="3291840"/>
            <a:ext cx="3794760" cy="594360"/>
          </a:xfrm>
          <a:prstGeom prst="roundRect">
            <a:avLst>
              <a:gd name="adj" fmla="val 49231"/>
            </a:avLst>
          </a:prstGeom>
          <a:solidFill>
            <a:srgbClr val="1E2761"/>
          </a:solidFill>
          <a:ln/>
        </p:spPr>
      </p:sp>
      <p:sp>
        <p:nvSpPr>
          <p:cNvPr id="13" name="Text 11"/>
          <p:cNvSpPr/>
          <p:nvPr/>
        </p:nvSpPr>
        <p:spPr>
          <a:xfrm>
            <a:off x="7818120" y="329184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March Bank Statement.xlsx</a:t>
            </a:r>
            <a:endParaRPr lang="en-US" sz="1100" dirty="0"/>
          </a:p>
        </p:txBody>
      </p:sp>
      <p:sp>
        <p:nvSpPr>
          <p:cNvPr id="14" name="Shape 12"/>
          <p:cNvSpPr/>
          <p:nvPr/>
        </p:nvSpPr>
        <p:spPr>
          <a:xfrm>
            <a:off x="7635240" y="4069080"/>
            <a:ext cx="3794760" cy="594360"/>
          </a:xfrm>
          <a:prstGeom prst="roundRect">
            <a:avLst>
              <a:gd name="adj" fmla="val 49231"/>
            </a:avLst>
          </a:prstGeom>
          <a:solidFill>
            <a:srgbClr val="1E2761"/>
          </a:solidFill>
          <a:ln/>
        </p:spPr>
      </p:sp>
      <p:sp>
        <p:nvSpPr>
          <p:cNvPr id="15" name="Text 13"/>
          <p:cNvSpPr/>
          <p:nvPr/>
        </p:nvSpPr>
        <p:spPr>
          <a:xfrm>
            <a:off x="7818120" y="406908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Template 01 — Bank Rec Worksheet.xlsx</a:t>
            </a:r>
            <a:endParaRPr lang="en-US" sz="1100" dirty="0"/>
          </a:p>
        </p:txBody>
      </p:sp>
      <p:sp>
        <p:nvSpPr>
          <p:cNvPr id="16" name="Shape 14"/>
          <p:cNvSpPr/>
          <p:nvPr/>
        </p:nvSpPr>
        <p:spPr>
          <a:xfrm>
            <a:off x="7635240" y="4846320"/>
            <a:ext cx="3794760" cy="1417320"/>
          </a:xfrm>
          <a:prstGeom prst="roundRect">
            <a:avLst>
              <a:gd name="adj" fmla="val 6452"/>
            </a:avLst>
          </a:prstGeom>
          <a:solidFill>
            <a:srgbClr val="141B49"/>
          </a:solidFill>
          <a:ln/>
        </p:spPr>
      </p:sp>
      <p:sp>
        <p:nvSpPr>
          <p:cNvPr id="17" name="Text 15"/>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8" name="Text 16"/>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Write your January reconciliation memo: what were the four items, how did you find the duplicate, and what were your two correcting entries?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Bank Reconciliation &amp; Cash Posting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Reconciliation &amp; Cash Posting</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