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07</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Advanced Excel Toolkit</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The Excel skills that separate accountants who survive month-end from accountants who drown in it — data cleaning, lookups, conditional summing, PivotTables, and Power Query.</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Day 7</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"What's the first thing you do with a 5,000-row payroll export?" The wrong answer is "start vouching." The right answer is "clean it." Raw exports from payroll, bank feeds, and offshore timesheet apps are always messy, and cleaning is an accounting skill, not an IT one.</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24 — DATA CLEANING &amp; LOOKUPS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Data cleaning, VLOOKUP/XLOOKUP, and SUMIFS</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698480" cy="914400"/>
        </p:xfrm>
        <a:graphic>
          <a:graphicData uri="http://schemas.openxmlformats.org/drawingml/2006/table">
            <a:tbl>
              <a:tblPr/>
              <a:tblGrid>
                <a:gridCol w="3566160"/>
                <a:gridCol w="3566160"/>
                <a:gridCol w="35661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Tool</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What it does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Skarion use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Text-to-Columns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Splits a combined field (e.g. "2026-01-14 Atlantic Fiber wire") on a delimiter into separate columns.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Cleaning bank-export CSVs where date and description share one cell.</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TRIM / PROPER / CLEAN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Removes extra spaces, fixes capitalization, strips non-printable characters.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Standardizing "GLOBAL CAD SOLUTIONS LTD." vs "Global Cad Solutions" so SUMIFS actually matches.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VLOOKUP / XLOOKUP</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Pull a matching value from a master table.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Matching 3,000 rows of offshore labor hours to project codes in a master table.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SUMIFS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Sum a range across multiple conditions (project + date + vendor).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Totaling COGS for the Tennessee Corridor for January across all vendors.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IF / IFS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Flag rows that meet a rule.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Flagging offshore invoices where the unit price exceeds the MSA rate of $38.50/mile.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Conditional Formatting</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Color cells that meet a rule, automatically.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Highlighting 90+ day AR balances ($34,200 of TeleCom Builders) in red.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04</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The messy offshore timesheet export</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Text-to-Columns to split the combined date/description field.</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TRIM/PROPER/CLEAN to standardize vendor names so they match the master project table.</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XLOOKUP or VLOOKUP to attach the correct Project Code to every row from the project mapping table.</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SUMIFS to compute total drafting labor cost per project.</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Deliverable: report the total Tennessee Corridor drafting cost for the month.</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Raw_Drafting_Labor.csv</a:t>
            </a:r>
            <a:endParaRPr lang="en-US" sz="1100" dirty="0"/>
          </a:p>
        </p:txBody>
      </p:sp>
      <p:sp>
        <p:nvSpPr>
          <p:cNvPr id="10" name="Shape 8"/>
          <p:cNvSpPr/>
          <p:nvPr/>
        </p:nvSpPr>
        <p:spPr>
          <a:xfrm>
            <a:off x="7635240" y="2514600"/>
            <a:ext cx="3794760" cy="594360"/>
          </a:xfrm>
          <a:prstGeom prst="roundRect">
            <a:avLst>
              <a:gd name="adj" fmla="val 49231"/>
            </a:avLst>
          </a:prstGeom>
          <a:solidFill>
            <a:srgbClr val="1E2761"/>
          </a:solidFill>
          <a:ln/>
        </p:spPr>
      </p:sp>
      <p:sp>
        <p:nvSpPr>
          <p:cNvPr id="11" name="Text 9"/>
          <p:cNvSpPr/>
          <p:nvPr/>
        </p:nvSpPr>
        <p:spPr>
          <a:xfrm>
            <a:off x="7818120" y="251460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Project_Mapping_Table.csv</a:t>
            </a:r>
            <a:endParaRPr lang="en-US" sz="1100" dirty="0"/>
          </a:p>
        </p:txBody>
      </p:sp>
      <p:sp>
        <p:nvSpPr>
          <p:cNvPr id="12" name="Shape 10"/>
          <p:cNvSpPr/>
          <p:nvPr/>
        </p:nvSpPr>
        <p:spPr>
          <a:xfrm>
            <a:off x="7635240" y="4846320"/>
            <a:ext cx="3794760" cy="1417320"/>
          </a:xfrm>
          <a:prstGeom prst="roundRect">
            <a:avLst>
              <a:gd name="adj" fmla="val 6452"/>
            </a:avLst>
          </a:prstGeom>
          <a:solidFill>
            <a:srgbClr val="141B49"/>
          </a:solidFill>
          <a:ln/>
        </p:spPr>
      </p:sp>
      <p:sp>
        <p:nvSpPr>
          <p:cNvPr id="13" name="Text 11"/>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4" name="Text 12"/>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What was the total drafting cost for the Tennessee Corridor project? Which vendor had the largest share, and did any invoices exceed the $38.50/mile MSA rate?</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05</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25 — PIVOTTABLES &amp; POWER QUERY</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PivotTables, Power Query, and Excel interview questions</a:t>
            </a:r>
            <a:endParaRPr lang="en-US" sz="2600" dirty="0"/>
          </a:p>
        </p:txBody>
      </p:sp>
      <p:sp>
        <p:nvSpPr>
          <p:cNvPr id="6" name="Text 4"/>
          <p:cNvSpPr/>
          <p:nvPr/>
        </p:nvSpPr>
        <p:spPr>
          <a:xfrm>
            <a:off x="731520" y="1874520"/>
            <a:ext cx="1069848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PivotTables are the fastest way to summarize 10,000 rows. Drag-and-drop grouping, summing, and filtering by date/project/vendor — no formulas required. For month-end, a PivotTable turns a raw transaction export into an AP aging view in minutes.</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Power Query (Get &amp; Transform) automates the monthly cleanup so you are not manually running Text-to-Columns every close. You build the transformation once; each month you refresh and the cleaned dataset lands in your model. This is how real close cycles stop being manual.</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Lab 2 — AP Aging PivotTable: a raw AP transaction export with 800 rows, 6 vendors, 4 months of invoices . Build a PivotTable showing outstanding AP by vendor Aging bucket (0–30, 31–60, 61–90, 90+), then identify which vendor carries the most overdue balance and assess the risk.</a:t>
            </a:r>
            <a:endParaRPr lang="en-US" sz="15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06</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HANDS-ON EXERCISE</a:t>
            </a:r>
            <a:endParaRPr lang="en-US" sz="1100" dirty="0"/>
          </a:p>
        </p:txBody>
      </p:sp>
      <p:sp>
        <p:nvSpPr>
          <p:cNvPr id="5" name="Text 3"/>
          <p:cNvSpPr/>
          <p:nvPr/>
        </p:nvSpPr>
        <p:spPr>
          <a:xfrm>
            <a:off x="731520" y="914400"/>
            <a:ext cx="10515600" cy="64008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AP Aging PivotTable lab</a:t>
            </a:r>
            <a:endParaRPr lang="en-US" sz="2400" dirty="0"/>
          </a:p>
        </p:txBody>
      </p:sp>
      <p:sp>
        <p:nvSpPr>
          <p:cNvPr id="6" name="Shape 4"/>
          <p:cNvSpPr/>
          <p:nvPr/>
        </p:nvSpPr>
        <p:spPr>
          <a:xfrm>
            <a:off x="731520" y="1737360"/>
            <a:ext cx="6675120" cy="4023360"/>
          </a:xfrm>
          <a:prstGeom prst="roundRect">
            <a:avLst>
              <a:gd name="adj" fmla="val 2273"/>
            </a:avLst>
          </a:prstGeom>
          <a:solidFill>
            <a:srgbClr val="FFFFFF"/>
          </a:solidFill>
          <a:ln/>
        </p:spPr>
      </p:sp>
      <p:sp>
        <p:nvSpPr>
          <p:cNvPr id="7" name="Text 5"/>
          <p:cNvSpPr/>
          <p:nvPr/>
        </p:nvSpPr>
        <p:spPr>
          <a:xfrm>
            <a:off x="1005840" y="1965960"/>
            <a:ext cx="6126480" cy="3566160"/>
          </a:xfrm>
          <a:prstGeom prst="rect">
            <a:avLst/>
          </a:prstGeom>
          <a:noFill/>
          <a:ln/>
        </p:spPr>
        <p:txBody>
          <a:bodyPr wrap="square" rtlCol="0" anchor="t"/>
          <a:lstStyle/>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Load the export into a PivotTable with Vendor on rows and an aging bucket (0–30, 31–60, 61–90, 90+) on columns, summing the outstanding invoice balance.</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Add conditional formatting so the 90+ day buckets highlight in red.</a:t>
            </a:r>
            <a:endParaRPr lang="en-US" sz="1350" dirty="0"/>
          </a:p>
          <a:p>
            <a:pPr marL="203200" indent="-203200">
              <a:spcAft>
                <a:spcPts val="1000"/>
              </a:spcAft>
              <a:buSzPct val="100000"/>
              <a:buChar char="▪"/>
            </a:pPr>
            <a:r>
              <a:rPr lang="en-US" sz="1350" dirty="0">
                <a:solidFill>
                  <a:srgbClr val="20242E"/>
                </a:solidFill>
                <a:latin typeface="Calibri" pitchFamily="34" charset="0"/>
                <a:ea typeface="Calibri" pitchFamily="34" charset="-122"/>
                <a:cs typeface="Calibri" pitchFamily="34" charset="-120"/>
              </a:rPr>
              <a:t>Identify the vendor with the largest 90+ day balance and write a one-line risk assessment for the controller.</a:t>
            </a:r>
            <a:endParaRPr lang="en-US" sz="1350" dirty="0"/>
          </a:p>
        </p:txBody>
      </p:sp>
      <p:sp>
        <p:nvSpPr>
          <p:cNvPr id="8" name="Shape 6"/>
          <p:cNvSpPr/>
          <p:nvPr/>
        </p:nvSpPr>
        <p:spPr>
          <a:xfrm>
            <a:off x="7635240" y="1737360"/>
            <a:ext cx="3794760" cy="594360"/>
          </a:xfrm>
          <a:prstGeom prst="roundRect">
            <a:avLst>
              <a:gd name="adj" fmla="val 49231"/>
            </a:avLst>
          </a:prstGeom>
          <a:solidFill>
            <a:srgbClr val="1E2761"/>
          </a:solidFill>
          <a:ln/>
        </p:spPr>
      </p:sp>
      <p:sp>
        <p:nvSpPr>
          <p:cNvPr id="9" name="Text 7"/>
          <p:cNvSpPr/>
          <p:nvPr/>
        </p:nvSpPr>
        <p:spPr>
          <a:xfrm>
            <a:off x="7818120" y="1737360"/>
            <a:ext cx="3474720" cy="594360"/>
          </a:xfrm>
          <a:prstGeom prst="rect">
            <a:avLst/>
          </a:prstGeom>
          <a:noFill/>
          <a:ln/>
        </p:spPr>
        <p:txBody>
          <a:bodyPr wrap="square"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 Template 03 — AP Aging.xlsx</a:t>
            </a:r>
            <a:endParaRPr lang="en-US" sz="1100" dirty="0"/>
          </a:p>
        </p:txBody>
      </p:sp>
      <p:sp>
        <p:nvSpPr>
          <p:cNvPr id="10" name="Shape 8"/>
          <p:cNvSpPr/>
          <p:nvPr/>
        </p:nvSpPr>
        <p:spPr>
          <a:xfrm>
            <a:off x="7635240" y="4846320"/>
            <a:ext cx="3794760" cy="1417320"/>
          </a:xfrm>
          <a:prstGeom prst="roundRect">
            <a:avLst>
              <a:gd name="adj" fmla="val 6452"/>
            </a:avLst>
          </a:prstGeom>
          <a:solidFill>
            <a:srgbClr val="141B49"/>
          </a:solidFill>
          <a:ln/>
        </p:spPr>
      </p:sp>
      <p:sp>
        <p:nvSpPr>
          <p:cNvPr id="11" name="Text 9"/>
          <p:cNvSpPr/>
          <p:nvPr/>
        </p:nvSpPr>
        <p:spPr>
          <a:xfrm>
            <a:off x="7863840" y="4983480"/>
            <a:ext cx="3291840" cy="27432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REFLECT</a:t>
            </a:r>
            <a:endParaRPr lang="en-US" sz="1000" dirty="0"/>
          </a:p>
        </p:txBody>
      </p:sp>
      <p:sp>
        <p:nvSpPr>
          <p:cNvPr id="12" name="Text 10"/>
          <p:cNvSpPr/>
          <p:nvPr/>
        </p:nvSpPr>
        <p:spPr>
          <a:xfrm>
            <a:off x="7863840" y="5257800"/>
            <a:ext cx="3291840" cy="914400"/>
          </a:xfrm>
          <a:prstGeom prst="rect">
            <a:avLst/>
          </a:prstGeom>
          <a:noFill/>
          <a:ln/>
        </p:spPr>
        <p:txBody>
          <a:bodyPr wrap="square" rtlCol="0" anchor="ctr"/>
          <a:lstStyle/>
          <a:p>
            <a:pPr indent="0" marL="0">
              <a:lnSpc>
                <a:spcPct val="120000"/>
              </a:lnSpc>
              <a:buNone/>
            </a:pPr>
            <a:r>
              <a:rPr lang="en-US" sz="1100" i="1" dirty="0">
                <a:solidFill>
                  <a:srgbClr val="CADCFC"/>
                </a:solidFill>
                <a:latin typeface="Calibri" pitchFamily="34" charset="0"/>
                <a:ea typeface="Calibri" pitchFamily="34" charset="-122"/>
                <a:cs typeface="Calibri" pitchFamily="34" charset="-120"/>
              </a:rPr>
              <a:t>Which vendor carried the most overdue (90+ day) balance, and what is the dollar amount and the collection risk you'd flag to the controller?</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07</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8 Excel interview questions — and real answers</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VLOOKUP vs. XLOOKUP?</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XLOOKUP defaults to an exact match (no trailing FALSE), can look left of the lookup column, and can return arrays. VLOOKUP is older, can only look right, and silently returns approximate matches if you forget the FALSE.</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How do you handle #N/A in VLOOKUP?</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Wrap with IFERROR or IFNA: =IFERROR(VLOOKUP(...), 0) or =IFNA(VLOOKUP(...), "no match"). Decide whether a missing match should be zero (sum-safe) or flagged.</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When use SUMIFS over a PivotTable?</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When the result needs to feed another formula live, or land in a fixed template cell a controller reads. PivotTables are great for exploration; SUMIFS is great for repeatable, formula-driven reports.</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How do you lock a cell reference?</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$A$1 locks both column and row (absolute); A1 locks neither (relative); $A1 locks column only, A$1 locks row only (mixed). Toggle with F4.</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What is a named range and when is it useful?</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 readable alias for a cell or range, e.g. MSA_Rate for a single cell. Useful in formulas that many people read =IF(UnitPrice&gt;MSA_Rate,"HOLD"). Self-documenting and survives row insertions if defined dynamically.</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How do you compare two lists to find missing values?</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XLOOKUP for each item in list A against list B — #N/A means missing. Or COUNTIF(range, value) = 0. Filter the #N/As to see exactly what's in one list but not the other.</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Excel knowledge check</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Why is XLOOKUP generally preferred over VLOOKUP in modern accounting?</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You need the total COGS for the Tennessee Corridor project across all vendors for January. Which function do you reach for?</a:t>
            </a:r>
            <a:endParaRPr lang="en-US" sz="1400" dirty="0"/>
          </a:p>
        </p:txBody>
      </p:sp>
      <p:sp>
        <p:nvSpPr>
          <p:cNvPr id="11" name="Shape 9"/>
          <p:cNvSpPr/>
          <p:nvPr/>
        </p:nvSpPr>
        <p:spPr>
          <a:xfrm>
            <a:off x="731520" y="4617720"/>
            <a:ext cx="384048" cy="384048"/>
          </a:xfrm>
          <a:prstGeom prst="ellipse">
            <a:avLst/>
          </a:prstGeom>
          <a:solidFill>
            <a:srgbClr val="E8A33D"/>
          </a:solidFill>
          <a:ln/>
        </p:spPr>
      </p:sp>
      <p:sp>
        <p:nvSpPr>
          <p:cNvPr id="12" name="Text 10"/>
          <p:cNvSpPr/>
          <p:nvPr/>
        </p:nvSpPr>
        <p:spPr>
          <a:xfrm>
            <a:off x="731520" y="461772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459943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Which cell reference locks the column but lets the row change as you fill down?</a:t>
            </a:r>
            <a:endParaRPr lang="en-US" sz="1400" dirty="0"/>
          </a:p>
        </p:txBody>
      </p:sp>
      <p:sp>
        <p:nvSpPr>
          <p:cNvPr id="14" name="Text 12"/>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09</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CHUNK 59 — AI IN ACCOUNTING</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AI Tools in Modern Accounting — What's Real, What's Hype</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Categorizing transactions (QuickBooks' AI suggestions, Sage Intacct's AI features)</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Matching invoices to POs at scale</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Flagging anomalies in large datasets (duplicate-looking amounts, out-of-pattern vendors)</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Auto-populating expense reports from receipt images</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Drafting first-pass reconciliation explanations and journal entry memos (with ChatGPT/Copilot)</a:t>
            </a:r>
            <a:endParaRPr lang="en-US" sz="1500" dirty="0"/>
          </a:p>
        </p:txBody>
      </p:sp>
      <p:sp>
        <p:nvSpPr>
          <p:cNvPr id="7" name="Shape 5"/>
          <p:cNvSpPr/>
          <p:nvPr/>
        </p:nvSpPr>
        <p:spPr>
          <a:xfrm>
            <a:off x="7406640" y="1874520"/>
            <a:ext cx="4023360" cy="3566160"/>
          </a:xfrm>
          <a:prstGeom prst="roundRect">
            <a:avLst>
              <a:gd name="adj" fmla="val 2564"/>
            </a:avLst>
          </a:prstGeom>
          <a:solidFill>
            <a:srgbClr val="FFF7E8"/>
          </a:solidFill>
          <a:ln/>
        </p:spPr>
      </p:sp>
      <p:sp>
        <p:nvSpPr>
          <p:cNvPr id="8" name="Shape 6"/>
          <p:cNvSpPr/>
          <p:nvPr/>
        </p:nvSpPr>
        <p:spPr>
          <a:xfrm>
            <a:off x="7680960" y="2148840"/>
            <a:ext cx="365760" cy="365760"/>
          </a:xfrm>
          <a:prstGeom prst="ellipse">
            <a:avLst/>
          </a:prstGeom>
          <a:solidFill>
            <a:srgbClr val="E8A33D"/>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Interview positioning: "I use AI tools to handle the mechanical volume of data preparation, which lets me spend more time on judgment-intensive work like reconciliation investigation and adjusting-entry review." That answer shows you understand the line — and you will be asked it.</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10</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5 AI accounting tools — what each does and can't</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QuickBooks AI categorization</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Suggests account categories for bank-feed transactions from historical patterns. Can't tell when a transaction is genuinely unusual or a one-off — review every flagged exception, don't auto-accept. Interview line: "I use QB's AI suggestions as a first pass, then review exceptions manually."</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Sage Intacct AI</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Automates transaction matching, anomaly flagging, and some reconciliations at scale. Still requires a human sign-off on accruals and judgment entries. Can't interpret the business reason behind a variance.</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Microsoft Copilot for Excel</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Drafts formulas, builds PivotTables, summarizes ranges, cleans data on instruction. Useful for first drafts and bulk clean-up. Can't validate that the underlying accounting treatment is correct — it's a formula tool, not a GAAP tool.</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ChatGPT for memos/first drafts</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Drafts reconciliation explanations and journal-entry memos from raw facts. Excellent first draft. Cannot verify the numbers are right or decide when an adjusting entry is actually needed — always verify before posting.</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Receipt/expense OCR AI</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Reads receipts and auto-populates expense reports. Great volume work. Still needs human review for category coding, policy compliance, and duplicate detection.</a:t>
            </a:r>
            <a:endParaRPr lang="en-US" sz="1050" dirty="0"/>
          </a:p>
        </p:txBody>
      </p:sp>
      <p:sp>
        <p:nvSpPr>
          <p:cNvPr id="20" name="Text 1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07</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Advanced Excel Toolkit</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Excel Toolkit</dc:title>
  <dc:subject>PptxGenJS Presentation</dc:subject>
  <dc:creator>Skarion Accounting Track</dc:creator>
  <cp:lastModifiedBy>Skarion Accounting Track</cp:lastModifiedBy>
  <cp:revision>1</cp:revision>
  <dcterms:created xsi:type="dcterms:W3CDTF">2026-07-16T04:11:38Z</dcterms:created>
  <dcterms:modified xsi:type="dcterms:W3CDTF">2026-07-16T04:11:38Z</dcterms:modified>
</cp:coreProperties>
</file>