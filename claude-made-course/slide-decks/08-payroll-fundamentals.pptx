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08 · SKARION MANUFACTURING LLC</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Payroll Fundamentals: Gross to Net</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Withholding, taxes, and the cost of employees.</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5</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Skarion has 15 employees. When you run payroll, the amount of cash that leaves the bank is never the same as the wages you owe them. The difference is taxes, withholdings, and benefits. In this module, you will learn the mechanics of US Payroll and how to book the entries accurately.</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 · Skarion Manufacturing LLC</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01</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BASICS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Gross Pay vs. Net Pay</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Federal Income Tax: Based on the employee's W-4.</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State Income Tax (Virginia): Based on state tax brackets.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FICA (Social Security &amp; Medicare): 6.2% for Social Security and 1.45% for Medicare.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Voluntary Deductions: 401(k) contributions, health insurance premiums.</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Skarion doesn't get to keep the withheld money. It sits as a liability (2200 Payroll Liabilities) until Skarion remits it to the IRS and the state government.</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 · Skarion Manufacturing LLC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EMPLOYER SIDE</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Employer Payroll Taxes</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FICA Match: Skarion must match the employee's 6.2% Social Security and 1.45% Medicare.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FUTA (Federal Unemployment): Paid only by the employer.</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SUTA (State Unemployment): Paid only by the employer.</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 · Skarion Manufacturing LLC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Payroll terminology</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Gross Wages</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Total earnings of the employee before any taxes or deductions are removed. Recorded as an expense (6300 Wages).</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Net Pay</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actual cash paid to the employee. Calculated as Gross Wages minus all withholdings.</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FICA</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Federal Insurance Contributions Act. Includes Social Security (6.2%) and Medicare (1.45%). Both the employee and the employer pay this.</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FUTA / SUTA</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Federal and State Unemployment Tax. This is an employer-only expense.</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Form W-4</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Filled out by the employee to let the employer know how much Federal Income Tax to withhold from their paycheck.</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Payroll Liabilities</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balance sheet account (2200) where all withheld taxes and employer taxes sit until they are paid to the government.</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 · Skarion Manufacturing LLC</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SKARION IN ACTION</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Booking the Payroll Run</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Let's look at Skarion's first semi-monthly payroll run in January.</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The total gross wages for all 15 employees is $33,916.67 . The total net pay (cash to employees) is $24,414.85 . The difference of $9,501.82 consists of federal tax, state tax, FICA, and benefits withholdings.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When we book this entry, we debit Wage Expense for the full gross amount, credit Cash for the net pay, and credit Payroll Liabilities for the withholdings.</a:t>
            </a:r>
            <a:endParaRPr lang="en-US" sz="1500" dirty="0"/>
          </a:p>
        </p:txBody>
      </p:sp>
      <p:sp>
        <p:nvSpPr>
          <p:cNvPr id="7" name="Shape 5"/>
          <p:cNvSpPr/>
          <p:nvPr/>
        </p:nvSpPr>
        <p:spPr>
          <a:xfrm>
            <a:off x="7406640" y="1874520"/>
            <a:ext cx="4023360" cy="3566160"/>
          </a:xfrm>
          <a:prstGeom prst="roundRect">
            <a:avLst>
              <a:gd name="adj" fmla="val 2564"/>
            </a:avLst>
          </a:prstGeom>
          <a:solidFill>
            <a:srgbClr val="FFF3DE"/>
          </a:solidFill>
          <a:ln/>
        </p:spPr>
      </p:sp>
      <p:sp>
        <p:nvSpPr>
          <p:cNvPr id="8" name="Shape 6"/>
          <p:cNvSpPr/>
          <p:nvPr/>
        </p:nvSpPr>
        <p:spPr>
          <a:xfrm>
            <a:off x="7680960" y="2148840"/>
            <a:ext cx="365760" cy="365760"/>
          </a:xfrm>
          <a:prstGeom prst="ellipse">
            <a:avLst/>
          </a:prstGeom>
          <a:solidFill>
            <a:srgbClr val="C9862B"/>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Never debit Wage Expense for just the Net Pay! Wage Expense must always reflect the full Gross Wages. The difference is recorded as a liability.</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 · Skarion Manufacturing LLC</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Test your payroll knowledge</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Which of the following taxes is paid by BOTH the employee (via withholding) and the employer (via matching)?</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An employee has gross wages of $4,000. Total withholdings are $1,000. What is the correct journal entry to record this?</a:t>
            </a:r>
            <a:endParaRPr lang="en-US" sz="1400" dirty="0"/>
          </a:p>
        </p:txBody>
      </p:sp>
      <p:sp>
        <p:nvSpPr>
          <p:cNvPr id="11" name="Text 9"/>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PRACTICE: JOURNAL ENTRY</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Record the employer taxes</a:t>
            </a:r>
            <a:endParaRPr lang="en-US" sz="2200" dirty="0"/>
          </a:p>
        </p:txBody>
      </p:sp>
      <p:sp>
        <p:nvSpPr>
          <p:cNvPr id="6" name="Shape 4"/>
          <p:cNvSpPr/>
          <p:nvPr/>
        </p:nvSpPr>
        <p:spPr>
          <a:xfrm>
            <a:off x="731520" y="1691640"/>
            <a:ext cx="10698480" cy="1051560"/>
          </a:xfrm>
          <a:prstGeom prst="roundRect">
            <a:avLst>
              <a:gd name="adj" fmla="val 6957"/>
            </a:avLst>
          </a:prstGeom>
          <a:solidFill>
            <a:srgbClr val="EEF3FC"/>
          </a:solidFill>
          <a:ln/>
        </p:spPr>
      </p:sp>
      <p:sp>
        <p:nvSpPr>
          <p:cNvPr id="7" name="Text 5"/>
          <p:cNvSpPr/>
          <p:nvPr/>
        </p:nvSpPr>
        <p:spPr>
          <a:xfrm>
            <a:off x="1005840" y="1810512"/>
            <a:ext cx="10149840" cy="822960"/>
          </a:xfrm>
          <a:prstGeom prst="rect">
            <a:avLst/>
          </a:prstGeom>
          <a:noFill/>
          <a:ln/>
        </p:spPr>
        <p:txBody>
          <a:bodyPr wrap="square" rtlCol="0" anchor="ctr"/>
          <a:lstStyle/>
          <a:p>
            <a:pPr indent="0" marL="0">
              <a:lnSpc>
                <a:spcPct val="125000"/>
              </a:lnSpc>
              <a:buNone/>
            </a:pPr>
            <a:r>
              <a:rPr lang="en-US" sz="1250" dirty="0">
                <a:solidFill>
                  <a:srgbClr val="20242E"/>
                </a:solidFill>
                <a:latin typeface="Calibri" pitchFamily="34" charset="0"/>
                <a:ea typeface="Calibri" pitchFamily="34" charset="-122"/>
                <a:cs typeface="Calibri" pitchFamily="34" charset="-120"/>
              </a:rPr>
              <a:t>After booking the gross wages and net pay for the January 15th payroll run, you must also record Skarion's portion of the employer payroll taxes. The total employer FICA match, FUTA, and SUTA for this run equals $3,001.63 . Record the journal entry for these employer taxes. Remember, this is an expense to the company, and the money hasn't been sent to the government yet.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463040" y="3063240"/>
          <a:ext cx="7315200" cy="914400"/>
        </p:xfrm>
        <a:graphic>
          <a:graphicData uri="http://schemas.openxmlformats.org/drawingml/2006/table">
            <a:tbl>
              <a:tblPr/>
              <a:tblGrid>
                <a:gridCol w="4023360"/>
                <a:gridCol w="1645920"/>
                <a:gridCol w="1645920"/>
              </a:tblGrid>
              <a:tr h="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Account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Debit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Credit</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6310 Employer Payroll Taxes</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$3001.63</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200" dirty="0">
                          <a:solidFill>
                            <a:srgbClr val="20242E"/>
                          </a:solidFill>
                          <a:latin typeface="Calibri" pitchFamily="34" charset="0"/>
                          <a:ea typeface="Calibri" pitchFamily="34" charset="-122"/>
                          <a:cs typeface="Calibri" pitchFamily="34" charset="-120"/>
                        </a:rPr>
                        <a:t>2200 Payroll Liabilities</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0242E"/>
                          </a:solidFill>
                          <a:latin typeface="Calibri" pitchFamily="34" charset="0"/>
                          <a:ea typeface="Calibri" pitchFamily="34" charset="-122"/>
                          <a:cs typeface="Calibri" pitchFamily="34" charset="-120"/>
                        </a:rPr>
                        <a:t>$3001.63</a:t>
                      </a:r>
                      <a:endParaRPr lang="en-US" sz="12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9" name="Text 6"/>
          <p:cNvSpPr/>
          <p:nvPr/>
        </p:nvSpPr>
        <p:spPr>
          <a:xfrm>
            <a:off x="731520" y="6309360"/>
            <a:ext cx="9601200" cy="274320"/>
          </a:xfrm>
          <a:prstGeom prst="rect">
            <a:avLst/>
          </a:prstGeom>
          <a:noFill/>
          <a:ln/>
        </p:spPr>
        <p:txBody>
          <a:bodyPr wrap="square" rtlCol="0" anchor="ctr"/>
          <a:lstStyle/>
          <a:p>
            <a:pPr indent="0" marL="0">
              <a:buNone/>
            </a:pPr>
            <a:r>
              <a:rPr lang="en-US" sz="950" i="1" dirty="0">
                <a:solidFill>
                  <a:srgbClr val="5B6472"/>
                </a:solidFill>
                <a:latin typeface="Calibri" pitchFamily="34" charset="0"/>
                <a:ea typeface="Calibri" pitchFamily="34" charset="-122"/>
                <a:cs typeface="Calibri" pitchFamily="34" charset="-120"/>
              </a:rPr>
              <a:t>Answer key — hidden from students in the interactive version until they submit their own entry.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Review the US Payroll Basics</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Understand the difference between W-2 employees and 1099 contractors.</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Review the current FICA rates and limits.</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Understand the timeline for remitting payroll taxes to the IRS.</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US Payroll Basics for Accountants</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If an employee asks why their paycheck is lower than their stated salary, how would you explain the difference using the terms Gross Pay and Net Pay?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Payroll Fundamentals: Gross to Net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Payroll Fundamentals: Gross to Net</dc:title>
  <dc:subject>PptxGenJS Presentation</dc:subject>
  <dc:creator>Skarion Accounting Track</dc:creator>
  <cp:lastModifiedBy>Skarion Accounting Track</cp:lastModifiedBy>
  <cp:revision>1</cp:revision>
  <dcterms:created xsi:type="dcterms:W3CDTF">2026-07-15T21:10:09Z</dcterms:created>
  <dcterms:modified xsi:type="dcterms:W3CDTF">2026-07-15T21:10:09Z</dcterms:modified>
</cp:coreProperties>
</file>