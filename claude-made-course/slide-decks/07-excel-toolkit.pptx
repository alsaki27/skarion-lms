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07 · SKARION MANUFACTURING LLC</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Excel Toolkit</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QuickBooks does the posting. Excel does the thinking. Every reconciliation, aging report, and dashboard you've built so far ran on five formulas repeated with discipline.</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7 of the 10-day path</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"What's your Excel level?" is asked in nearly every accounting interview, and it isn't small talk — it's a filter. This module opens the hood on the templates you've already been using and shows you exactly why they work.</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WHY IT MATTERS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QuickBooks runs the books. Excel runs the job search.</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It would be easy to assume that once a company is on QuickBooks, Excel becomes optional. The market research behind this course says otherwise: roughly 90% of entry-level accounting and bookkeeping job postings analyzed for this course explicitly name Excel as a required or strongly preferred skill — more often than any specific accounting software, including QuickBooks itself.</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reason is structural, not nostalgic. QuickBooks is excellent at recording transactions and holding the single source of truth. It is clumsy at the analysis layer — aging buckets, multi-way variance tables, reconciliation workpapers, dashboards you can hand to a controller mid-meeting. That analysis layer is built in Excel, exported from QuickBooks or built alongside it, in nearly every small-to-midsize company's monthly close.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Every template in Modules 03 through 05 — the bank reconciliation, the AR and AP aging, the expense dashboard, the close checklist — is exactly that analysis layer. This module doesn't teach new tasks. It teaches you to read the formulas already doing the work, so you can explain them fluently in an interview and rebuild them from scratch on day one of a real job.</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Interview framing: when asked about your Excel level, don't say "intermediate." Say what you can actually do: "I've built SUMIFS-based aging reports, COUNTIFS-based reconciliation matching, and nested-IF bucket logic for a manufacturing company's monthly close." Specificity beats a self-rating every time.</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The 8 functions that run this entire course</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SUMIFS()</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Adds up a range of numbers, but only the rows that match one or more conditions — e.g. every open invoice for one customer that also falls in the "31-60" bucket. It's the workhorse behind the aging reports and the expense dashboard's category-by-month tables.</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COUNTIFS()</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Counts rows that match one or more conditions, instead of summing them. The bank reconciliation template uses it to count how many times a transaction's match-key appears on the other sheet — zero means unmatched, one means matched, more than one flags a possible duplicate.</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Nested IF()</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Chains multiple true/false tests so a value falls into exactly one category. The AR and AP aging reports nest four IFs deep to sort each invoice into Current, 1-30, 31-60, 61-90, or 90+ days past due, based on a single days-past-due number.</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VLOOKUP() / XLOOKUP()</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Pulls a value from one table into another by matching on a shared key (like a customer name or invoice number). VLOOKUP is the classic, widely-supported version; XLOOKUP is the newer, more flexible successor increasingly requested in 2026 job postings.</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TEXT() match-keys</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Converts a date and amount into a single comparable text string, like "20260102|4200.00". Two systems that store dates or numbers slightly differently can't be matched directly — but their TEXT() versions can. This is the trick behind the bank reconciliation's auto-flagging.</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MAX(0, ...)</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Floors a calculation at zero so it never goes negative. Used to make sure an open invoice balance (Original Amount − Payments Received) never shows as a negative number if a customer overpays.</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HOW IT ACTUALLY WORKS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bank reconciliation's auto-flagging trick, unpacked</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Open Template_01_Bank_Reconciliation_Worksheet.xlsx and look at column G on both the Bank_Import and GL_Import sheets. Every row builds a match key with this formula:</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=TEXT(A5,"yyyymmdd")&amp;"|"&amp;TEXT(ROUND(ABS(F5),2),"0.00")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In plain English: take the transaction date, format it as a plain 8-digit string like 20260102 , glue on a pipe character, then glue on the transaction's absolute dollar amount rounded to two decimals, like 4200.00 . The result is a single text string — 20260102|4200.00 — that represents "this date, this amount," with no ambiguity about date formats, positive/negative signs, or floating-point rounding.</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Once every row on both sheets has a match key, column H counts how many times that exact key shows up on the other sheet: =COUNTIFS(GL_Import!$G$5:$G$45,G5) . Column I then turns that count into a plain-English status: =IF(H5=0,"Unmatched",IF(H5&amp;gt;1,"Possible Duplicate","Matched")) . Zero hits means nothing on the other side matches — an outstanding check or a deposit in transit. More than one hit means the same date-and-amount combination appears more than once, which is exactly how the template catches the accidental duplicate GL entry DEP-1001-DUP in the sample data.</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This is why the Reconciliation sheet needed a new line: "Less: Duplicate Book Entries." The COUNTIFS logic correctly flagged the $4,200 duplicate receipt as "Possible Duplicate," but flagging isn't correcting — a human still has to confirm it's a real duplicate (not a coincidence) and back it out of the adjusted book balance. Once that $4,200 duplicate is subtracted on row 16, the reconciliation difference on row 19 correctly lands at $0.00. The formulas find the problem; the accountant decides what to do about it.</a:t>
            </a:r>
            <a:endParaRPr lang="en-US" sz="1500" dirty="0"/>
          </a:p>
        </p:txBody>
      </p:sp>
      <p:sp>
        <p:nvSpPr>
          <p:cNvPr id="7" name="Shape 5"/>
          <p:cNvSpPr/>
          <p:nvPr/>
        </p:nvSpPr>
        <p:spPr>
          <a:xfrm>
            <a:off x="7406640" y="1874520"/>
            <a:ext cx="4023360" cy="3566160"/>
          </a:xfrm>
          <a:prstGeom prst="roundRect">
            <a:avLst>
              <a:gd name="adj" fmla="val 2564"/>
            </a:avLst>
          </a:prstGeom>
          <a:solidFill>
            <a:srgbClr val="EEF3FC"/>
          </a:solidFill>
          <a:ln/>
        </p:spPr>
      </p:sp>
      <p:sp>
        <p:nvSpPr>
          <p:cNvPr id="8" name="Shape 6"/>
          <p:cNvSpPr/>
          <p:nvPr/>
        </p:nvSpPr>
        <p:spPr>
          <a:xfrm>
            <a:off x="7680960" y="2148840"/>
            <a:ext cx="365760" cy="365760"/>
          </a:xfrm>
          <a:prstGeom prst="ellipse">
            <a:avLst/>
          </a:prstGeom>
          <a:solidFill>
            <a:srgbClr val="1E2761"/>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STORY</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Why not just match on amount alone? Because plenty of unrelated transactions share a dollar amount by coincidence — two different $2,190 payments to two different vendors, for instance. Combining date AND amount into one key makes false-positive matches far less likely, which is exactly the kind of design decision that separates a template someone can trust from one that just looks automated.</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HOW IT ACTUALLY WORKS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AR/AP aging bucket logic</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Template_02_AR_Aging_Report.xlsx and Template_03_AP_Aging_Report.xlsx share the same two-step logic. Step one, on the invoice detail sheet, calculates days past due: =IF(H5=0,0,MAX(0,AR_Aging_Report!$B$4-E5)) . Read it right to left: take the report's "As Of Date" (cell B4) and subtract the invoice's due date (E5) — that's how many days overdue it is. Wrap it in MAX(0, ...) so an invoice that isn't due yet never shows a negative number of days past due. Wrap that in an outer IF so a fully-paid invoice (open balance H5 = 0) always shows 0 days, regardless of its due date.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Step two sorts that days-past-due number into a bucket with a nested IF chain: =IF(H5=0,"Paid",IF(I5=0,"Current",IF(I5&amp;lt;=30,"1-30",IF(I5&amp;lt;=60,"31-60",IF(I5&amp;lt;=90,"61-90","90+"))))) . Each IF only fires if every test before it failed — so an invoice 45 days past due skips "Paid," skips "Current," skips "1-30" (45 is not ≤ 30), and lands on "31-60" (45 ≤ 60). Order matters here: the tests have to run from smallest to largest, or a 90-day-overdue invoice would incorrectly get caught by an earlier, looser test.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Once every invoice has a bucket label, the summary tables use SUMIFS twice: once to total each bucket across all customers ( =SUMIFS(Customer_Invoices!$H$5:$H$34,Customer_Invoices!$J$5:$J$34,A9) ), and once to build a customer-by-bucket grid that adds a second condition for the customer name. That's the same nested-IF-then-SUMIFS pattern doing double duty — sort first, then total by group.</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In the bank reconciliation's match key formula, =TEXT(A5,"yyyymmdd")&amp;"|"&amp;TEXT(ROUND(ABS(F5),2),"0.00"), why combine date AND amount instead of just matching on amount alone?</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In GL_Import, COUNTIFS(Bank_Import!$G$5:$G$45,G5) returns 2 for a transaction. What does that mean, and what should happen next?</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An invoice is 61 days past its due date. Walking through =IF(H5=0,"Paid",IF(I5=0,"Current",IF(I5&lt;=30,"1-30",IF(I5&lt;=60,"31-60",IF(I5&lt;=90,"61-90","90+"))))), which bucket does it land in, and why?</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Run a full month's close on Skarion's own numbers</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Open the Bank Reconciliation Worksheet and confirm the adjusted bank and book balances tie out to $0.00 once the duplicate book entry is backed out on the "Less: Duplicate Book Entries" line.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Open the AR Aging and AP Aging reports and identify which customers and vendors have anything sitting in the 61-90 or 90+ buckets — these are the ones you'd flag to a controller first.</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Open the Expense Analysis Dashboard and review the KPIs, the category-by-month and vendor-by-total SUMIFS tables, and all three embedded charts, including the newly added vendor chart.</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Open the Month-End Close Checklist and walk all 30 tasks across the 15 functional areas, confirming the formula-driven status summary reflects a complete close.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Write a one-paragraph summary, as if handing it to a controller, of Skarion's month-end financial position: cash reconciliation status, AR/AP risk, and the top expense drivers.</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Bank Reconciliation Worksheet</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AR Aging Report</a:t>
            </a:r>
            <a:endParaRPr lang="en-US" sz="1100" dirty="0"/>
          </a:p>
        </p:txBody>
      </p:sp>
      <p:sp>
        <p:nvSpPr>
          <p:cNvPr id="12" name="Shape 10"/>
          <p:cNvSpPr/>
          <p:nvPr/>
        </p:nvSpPr>
        <p:spPr>
          <a:xfrm>
            <a:off x="7635240" y="3291840"/>
            <a:ext cx="3794760" cy="594360"/>
          </a:xfrm>
          <a:prstGeom prst="roundRect">
            <a:avLst>
              <a:gd name="adj" fmla="val 49231"/>
            </a:avLst>
          </a:prstGeom>
          <a:solidFill>
            <a:srgbClr val="1E2761"/>
          </a:solidFill>
          <a:ln/>
        </p:spPr>
      </p:sp>
      <p:sp>
        <p:nvSpPr>
          <p:cNvPr id="13" name="Text 11"/>
          <p:cNvSpPr/>
          <p:nvPr/>
        </p:nvSpPr>
        <p:spPr>
          <a:xfrm>
            <a:off x="7818120" y="329184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AP Aging Report</a:t>
            </a:r>
            <a:endParaRPr lang="en-US" sz="1100" dirty="0"/>
          </a:p>
        </p:txBody>
      </p:sp>
      <p:sp>
        <p:nvSpPr>
          <p:cNvPr id="14" name="Shape 12"/>
          <p:cNvSpPr/>
          <p:nvPr/>
        </p:nvSpPr>
        <p:spPr>
          <a:xfrm>
            <a:off x="7635240" y="4069080"/>
            <a:ext cx="3794760" cy="594360"/>
          </a:xfrm>
          <a:prstGeom prst="roundRect">
            <a:avLst>
              <a:gd name="adj" fmla="val 49231"/>
            </a:avLst>
          </a:prstGeom>
          <a:solidFill>
            <a:srgbClr val="1E2761"/>
          </a:solidFill>
          <a:ln/>
        </p:spPr>
      </p:sp>
      <p:sp>
        <p:nvSpPr>
          <p:cNvPr id="15" name="Text 13"/>
          <p:cNvSpPr/>
          <p:nvPr/>
        </p:nvSpPr>
        <p:spPr>
          <a:xfrm>
            <a:off x="7818120" y="406908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Expense Analysis Dashboard</a:t>
            </a:r>
            <a:endParaRPr lang="en-US" sz="1100" dirty="0"/>
          </a:p>
        </p:txBody>
      </p:sp>
      <p:sp>
        <p:nvSpPr>
          <p:cNvPr id="16" name="Shape 14"/>
          <p:cNvSpPr/>
          <p:nvPr/>
        </p:nvSpPr>
        <p:spPr>
          <a:xfrm>
            <a:off x="7635240" y="4846320"/>
            <a:ext cx="3794760" cy="594360"/>
          </a:xfrm>
          <a:prstGeom prst="roundRect">
            <a:avLst>
              <a:gd name="adj" fmla="val 49231"/>
            </a:avLst>
          </a:prstGeom>
          <a:solidFill>
            <a:srgbClr val="1E2761"/>
          </a:solidFill>
          <a:ln/>
        </p:spPr>
      </p:sp>
      <p:sp>
        <p:nvSpPr>
          <p:cNvPr id="17" name="Text 15"/>
          <p:cNvSpPr/>
          <p:nvPr/>
        </p:nvSpPr>
        <p:spPr>
          <a:xfrm>
            <a:off x="7818120" y="484632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Month-End Close Checklist</a:t>
            </a:r>
            <a:endParaRPr lang="en-US" sz="1100" dirty="0"/>
          </a:p>
        </p:txBody>
      </p:sp>
      <p:sp>
        <p:nvSpPr>
          <p:cNvPr id="18" name="Shape 16"/>
          <p:cNvSpPr/>
          <p:nvPr/>
        </p:nvSpPr>
        <p:spPr>
          <a:xfrm>
            <a:off x="7635240" y="4846320"/>
            <a:ext cx="3794760" cy="1417320"/>
          </a:xfrm>
          <a:prstGeom prst="roundRect">
            <a:avLst>
              <a:gd name="adj" fmla="val 6452"/>
            </a:avLst>
          </a:prstGeom>
          <a:solidFill>
            <a:srgbClr val="141B49"/>
          </a:solidFill>
          <a:ln/>
        </p:spPr>
      </p:sp>
      <p:sp>
        <p:nvSpPr>
          <p:cNvPr id="19" name="Text 17"/>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20" name="Text 18"/>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Which single formula pattern from this module — the TEXT() match-key, the nested-IF aging bucket, or the SUMIFS summary table — do you feel most confident explaining out loud in an interview, and which one needs more practice?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LOOKING AHEAD</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these templates don't teach — and why that's your next move</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Every table in this module's templates is built with SUMIFS, COUNTIFS, and nested IFs — functions that produce a "pivot-style" summary by writing out the logic explicitly, row by row and condition by condition. That's deliberate: it's the version of Excel every hiring manager can open and understand immediately, on any version of Excel, with zero setup.</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But it's not the only way professionals summarize data. Native Excel PivotTables — and functions like XLOOKUP — do a lot of the same work with less manual formula-writing, and job postings are increasingly naming them by 2026, especially at larger companies with heavier reporting volume. XLOOKUP in particular is quickly replacing VLOOKUP as the expected lookup function in job descriptions, since it can search in either direction and handles missing matches more gracefully.</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Extension skill, not required for this course: once you're comfortable with the SUMIFS-based tables in these templates, it's worth practicing PivotTables and XLOOKUP on your own using this same Skarion data. They're not covered in these templates on purpose — but naming them specifically in an interview ("I also build PivotTables and use XLOOKUP for lookups") signals you're current with where Excel is headed, not just where it's been.</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 · Skarion Manufacturing LLC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The Excel Toolkit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Excel Toolkit</dc:title>
  <dc:subject>PptxGenJS Presentation</dc:subject>
  <dc:creator>Skarion Accounting Track</dc:creator>
  <cp:lastModifiedBy>Skarion Accounting Track</cp:lastModifiedBy>
  <cp:revision>1</cp:revision>
  <dcterms:created xsi:type="dcterms:W3CDTF">2026-07-15T21:10:09Z</dcterms:created>
  <dcterms:modified xsi:type="dcterms:W3CDTF">2026-07-15T21:10:09Z</dcterms:modified>
</cp:coreProperties>
</file>