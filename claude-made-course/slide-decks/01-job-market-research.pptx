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01 · SKARION MANUFACTURING LLC</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Job Market Research — Calibrating the Course</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Before you learn a single debit or credit, look at what 44 real entry-level accounting postings collected in July 2026 actually asked for — because that's what this whole course was built to match.</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Calibration input — read before Day 1</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"We don't teach accounting theory. We teach what's in the job postings." Here's the receipt: 44 real postings, pulled live from Robert Half and other sources in July 2026, tell you exactly what to expect.</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 · Skarion Manufacturing LLC</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01</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WHY THIS MODULE EXISTS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This course is calibrated against real job postings, not assumptions</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Most "learn accounting" content is built from textbooks — general ledger theory, debits and credits, the accounting cycle. That's necessary, but it isn't sufficient. It doesn't tell you what a hiring manager at Robert Half is actually screening for this month.</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So before building the rest of this track, we collected 44 real entry-level accounting job postings in July 2026 — job title, salary range, years of experience required, required software, required skills, whether reconciliation or month-end close was mentioned — and ran the numbers.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The goal isn't trivia. It's making sure every simulation in this course (bank reconciliation, AP processing, month-end close) maps to something a real employer is actually asking for right now, not a skill that sounded important in a textbook.</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Read this as your "why" for every module that follows. When Module 4 has you reconcile a bank statement, or Module 5 has you process AP, that's not arbitrary — it's because those exact tasks showed up again and again in the postings behind this module.</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 · Skarion Manufacturing LLC</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DATA</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What 44 real postings actually said</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6400800" cy="914400"/>
        </p:xfrm>
        <a:graphic>
          <a:graphicData uri="http://schemas.openxmlformats.org/drawingml/2006/table">
            <a:tbl>
              <a:tblPr/>
              <a:tblGrid>
                <a:gridCol w="3200400"/>
                <a:gridCol w="32004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Postings collected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Average salary — minimum</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$48,134</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Average salary — maximum</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$56,122</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requiring 0 or 0–1 years of experience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84%</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mentioning CPA requirement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explicitly mentioning month-end close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explicitly mentioning reconciliation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7" name="Shape 4"/>
          <p:cNvSpPr/>
          <p:nvPr/>
        </p:nvSpPr>
        <p:spPr>
          <a:xfrm>
            <a:off x="7406640" y="1874520"/>
            <a:ext cx="4023360" cy="3566160"/>
          </a:xfrm>
          <a:prstGeom prst="roundRect">
            <a:avLst>
              <a:gd name="adj" fmla="val 2564"/>
            </a:avLst>
          </a:prstGeom>
          <a:solidFill>
            <a:srgbClr val="EEF3FC"/>
          </a:solidFill>
          <a:ln/>
        </p:spPr>
      </p:sp>
      <p:sp>
        <p:nvSpPr>
          <p:cNvPr id="8" name="Shape 5"/>
          <p:cNvSpPr/>
          <p:nvPr/>
        </p:nvSpPr>
        <p:spPr>
          <a:xfrm>
            <a:off x="7680960" y="2148840"/>
            <a:ext cx="365760" cy="365760"/>
          </a:xfrm>
          <a:prstGeom prst="ellipse">
            <a:avLst/>
          </a:prstGeom>
          <a:solidFill>
            <a:srgbClr val="1E2761"/>
          </a:solidFill>
          <a:ln/>
        </p:spPr>
      </p:sp>
      <p:sp>
        <p:nvSpPr>
          <p:cNvPr id="9" name="Text 6"/>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1E2761"/>
                </a:solidFill>
                <a:latin typeface="Calibri" pitchFamily="34" charset="0"/>
                <a:ea typeface="Calibri" pitchFamily="34" charset="-122"/>
                <a:cs typeface="Calibri" pitchFamily="34" charset="-120"/>
              </a:rPr>
              <a:t>STORY</a:t>
            </a:r>
            <a:endParaRPr lang="en-US" sz="1000" dirty="0"/>
          </a:p>
        </p:txBody>
      </p:sp>
      <p:sp>
        <p:nvSpPr>
          <p:cNvPr id="10" name="Text 7"/>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Almost no one is asking for a CPA (2%) at this level. What they're asking for is someone who can find and explain a $270 gap between the bank and the books — that's reconciliation, and it's in nearly three out of every four postings.</a:t>
            </a:r>
            <a:endParaRPr lang="en-US" sz="12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 · Skarion Manufacturing LLC</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What employers actually named — real frequency counts</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Excel</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Named in 20 of 44 postings (45%) — the single most-requested tool by a wide margin. If you only master one tool cold, make it this one.</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Journal entries</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Named in 8 of 44 postings — the core mechanical skill behind every correction this course teaches.</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QuickBooks</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Named in 6 of 44 postings — the most-requested accounting software specifically (ahead of SAP, NetSuite, Oracle, and Sage combined per-postings).</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Data entry</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Named in 6 of 44 postings — still present, but this is exactly the task category AI is compressing fastest (see the next chunk).</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Month-end close</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Named in 5 of 44 postings by that exact phrase — undercounts the real figure, since the broader 'month-end close mentioned' field above hits 27% once related phrasing is included.</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Bank reconciliation</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Named in 5 of 44 postings by that exact phrase — same undercount pattern; the broader reconciliation field hits 73%.</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 · Skarion Manufacturing LLC</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MARKET CONTEXT</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Why this course bets on judgment, not data entry</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July 2026 has a real headwind for entry-level accounting: AI is eating exactly the tasks that used to be the entry point. A Fortune report (May 2026), citing a BambooHR survey, found companies now hiring senior accountants over entry-level ones at roughly a 3:1 ratio . Industry projections point to a 35–50% reduction in basic bookkeeping roles by 2028 , as tools like QuickBooks Online increasingly auto-categorize bank feeds and reduce the need for manual transaction entry.</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That sounds like bad news for a course built around entry-level accounting jobs. But look back at the data in this module: 73% of these 44 real postings still explicitly mention reconciliation — the exception-handling, judgment-heavy work of figuring out why two numbers don't match, not just keying data in. That's the work AI still struggles with, and it's exactly what this course's simulations (bank reconciliation, AP exception handling, month-end close) are built to teach.</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The reframe: you're not training to be a data-entry clerk who might get automated out of a job in two years. You're training to be the person who reviews what the AI auto-categorized and catches what it got wrong — an AI-augmented entry accountant , comfortable with the software and confident handling the exceptions.</a:t>
            </a:r>
            <a:endParaRPr lang="en-US" sz="1500" dirty="0"/>
          </a:p>
        </p:txBody>
      </p:sp>
      <p:sp>
        <p:nvSpPr>
          <p:cNvPr id="7" name="Shape 5"/>
          <p:cNvSpPr/>
          <p:nvPr/>
        </p:nvSpPr>
        <p:spPr>
          <a:xfrm>
            <a:off x="7406640" y="1874520"/>
            <a:ext cx="4023360" cy="3566160"/>
          </a:xfrm>
          <a:prstGeom prst="roundRect">
            <a:avLst>
              <a:gd name="adj" fmla="val 2564"/>
            </a:avLst>
          </a:prstGeom>
          <a:solidFill>
            <a:srgbClr val="FFF3DE"/>
          </a:solidFill>
          <a:ln/>
        </p:spPr>
      </p:sp>
      <p:sp>
        <p:nvSpPr>
          <p:cNvPr id="8" name="Shape 6"/>
          <p:cNvSpPr/>
          <p:nvPr/>
        </p:nvSpPr>
        <p:spPr>
          <a:xfrm>
            <a:off x="7680960" y="2148840"/>
            <a:ext cx="365760" cy="365760"/>
          </a:xfrm>
          <a:prstGeom prst="ellipse">
            <a:avLst/>
          </a:prstGeom>
          <a:solidFill>
            <a:srgbClr val="C9862B"/>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C9862B"/>
                </a:solidFill>
                <a:latin typeface="Calibri" pitchFamily="34" charset="0"/>
                <a:ea typeface="Calibri" pitchFamily="34" charset="-122"/>
                <a:cs typeface="Calibri" pitchFamily="34" charset="-120"/>
              </a:rPr>
              <a:t>WARNING</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Don't market yourself on how many invoices you processed. Lead with the judgment work: reconciliation, variance investigation, discrepancy resolution. That's the 73%, and it's the durable part of this job.</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 · Skarion Manufacturing LLC</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Check your understanding</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Based on the 44 real postings in this dataset, what percentage required 0–1 years of experience?</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What percentage of the real postings explicitly mentioned reconciliation?</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Why does this course focus on reconciliation and exception-handling rather than pure data entry, given the AI trend described in this module?</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Job Market Research — Calibrating the Course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Market Research — Calibrating the Course</dc:title>
  <dc:subject>PptxGenJS Presentation</dc:subject>
  <dc:creator>Skarion Accounting Track</dc:creator>
  <cp:lastModifiedBy>Skarion Accounting Track</cp:lastModifiedBy>
  <cp:revision>1</cp:revision>
  <dcterms:created xsi:type="dcterms:W3CDTF">2026-07-15T21:10:09Z</dcterms:created>
  <dcterms:modified xsi:type="dcterms:W3CDTF">2026-07-15T21:10:09Z</dcterms:modified>
</cp:coreProperties>
</file>