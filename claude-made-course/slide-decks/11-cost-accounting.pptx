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645920"/>
            <a:ext cx="4572000" cy="45720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00400" cy="32004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46304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920240"/>
            <a:ext cx="10241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Accounting &amp; Managerial Basics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342900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accounting that runs the inside of the business — job costing, variance analysis, and cost centers. Getting this right turns a single P&amp;L into a project-by-project profitability map.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31520" y="4663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141B49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4663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6309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SKARION ACCOUNTING TRACK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3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★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280160" y="1463040"/>
            <a:ext cx="9601200" cy="365760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808080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737360" y="182880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737360" y="2286000"/>
            <a:ext cx="8686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2200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"Is this project actually making money?" Every services firm with multiple jobs asks it monthly, and a single blended gross margin hides the answer. Job costing reveals it. Variance analysis explains why it moved. Both get you promoted to senior.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94 — JOB VS PROCESS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Costing vs. Process Costing — Which One Applies to You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Direct: easily traced to a specific job — offshore drafting hours on Project Alpha, dedicated software licenses for a project.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Indirect / Overhead: cannot be directly traced — office rent, utilities, management salaries. These must be allocated across jobs by some fair basis (revenue %, headcount %, hours %).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94 — THE LAB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Skarion Job Costing Lab — Gross Profit by Project</a:t>
            </a:r>
            <a:endParaRPr lang="en-US" sz="2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6400800" cy="914400"/>
        </p:xfrm>
        <a:graphic>
          <a:graphicData uri="http://schemas.openxmlformats.org/drawingml/2006/table">
            <a:tbl>
              <a:tblPr/>
              <a:tblGrid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  <a:gridCol w="8001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Contract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offshore labor (at $38.50/mi × billed miles)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Direct software (allocated by project hours)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Indirect overhead (rent + utilities, allocated by revenue %)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Gross profit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GM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Tennessee Corridor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$1,200,000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$462,000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$72,000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$554,000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$646,000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 Long-Haul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$800,000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$327,250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$13,333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$388,583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$411,417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Virginia Metro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$308,000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$5,833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$334,833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$15,167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06640" y="187452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FFF3DE"/>
          </a:solidFill>
          <a:ln/>
        </p:spPr>
      </p:sp>
      <p:sp>
        <p:nvSpPr>
          <p:cNvPr id="8" name="Shape 5"/>
          <p:cNvSpPr/>
          <p:nvPr/>
        </p:nvSpPr>
        <p:spPr>
          <a:xfrm>
            <a:off x="7680960" y="2148840"/>
            <a:ext cx="365760" cy="365760"/>
          </a:xfrm>
          <a:prstGeom prst="ellipse">
            <a:avLst/>
          </a:prstGeom>
          <a:solidFill>
            <a:srgbClr val="C9862B"/>
          </a:solidFill>
          <a:ln/>
        </p:spPr>
      </p:sp>
      <p:sp>
        <p:nvSpPr>
          <p:cNvPr id="9" name="Text 6"/>
          <p:cNvSpPr/>
          <p:nvPr/>
        </p:nvSpPr>
        <p:spPr>
          <a:xfrm>
            <a:off x="8229600" y="21488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C98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WARNING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680960" y="2606040"/>
            <a:ext cx="3566160" cy="2651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insight. Skarion's blended 70.8% gross margin hides that Tennessee Corridor is making 53.8% (on contract value) while Virginia Metro is barely break-even at 4.3% — its offshore labor cost swallowed almost the entire contract. Job costing reveals which projects to renew, renegotiate, or sunset. A single blended number never tells you that.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95 — VARIANCE ANALYSIS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Analysis — What Went Wrong and Where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874520"/>
            <a:ext cx="10698480" cy="3931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vs. Actual — every month differs; variance analysis explains why.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Favorable variance (F) — actual is better than budget (lower cost or higher revenue).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Unfavorable variance (U) — actual is worse than budget.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variance — the cost per unit was different from budget.</a:t>
            </a:r>
            <a:endParaRPr lang="en-US" sz="1500" dirty="0"/>
          </a:p>
          <a:p>
            <a:pPr marL="228600" indent="-228600">
              <a:spcAft>
                <a:spcPts val="1200"/>
              </a:spcAft>
              <a:buSzPct val="100000"/>
              <a:buChar char="▪"/>
            </a:pPr>
            <a:r>
              <a:rPr lang="en-US" sz="1500" dirty="0">
                <a:solidFill>
                  <a:srgbClr val="2024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Volume/Efficiency variance — you used more or fewer units than budgeted.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0292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Variance Vocabulary — 5 Cards with Skarion Examples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variance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96012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Actual − Total Budget. Skarion January offshore drafting: $140,270 actual − $121,600 budget = $18,670 Unfavorable. The top-line gap before you decompose it.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48056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470916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variance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70916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(Actual price − Budget price) × Actual volume. Skarion: ($41.50 − $38.00) × 3,380 = $11,830 U. Tells you the rate was wrong — renegotiate the MSA or the PO.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8229600" y="141732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8458200" y="158191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/ Efficiency variance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8458200" y="213055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(Actual volume − Budget volume) × Budget price. Skarion: (3,380 − 3,200) × $38.00 = $6,840 U. Tells you the scope/estimate was wrong — fix the planning, not the rate.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3152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Favorable (F)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96012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is better than budget — lower cost or higher revenue. Skarion example: if actual miles came in at 3,000 vs 3,200 budgeted, the volume variance is $7,600 Favorable (you used fewer miles than planned).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480560" y="3520440"/>
            <a:ext cx="3520440" cy="1874520"/>
          </a:xfrm>
          <a:prstGeom prst="roundRect">
            <a:avLst>
              <a:gd name="adj" fmla="val 4390"/>
            </a:avLst>
          </a:prstGeom>
          <a:solidFill>
            <a:srgbClr val="EEF3FC"/>
          </a:solidFill>
          <a:ln/>
        </p:spPr>
      </p:sp>
      <p:sp>
        <p:nvSpPr>
          <p:cNvPr id="18" name="Text 16"/>
          <p:cNvSpPr/>
          <p:nvPr/>
        </p:nvSpPr>
        <p:spPr>
          <a:xfrm>
            <a:off x="4709160" y="3685032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Unfavorable (U)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4709160" y="4233672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is worse than budget — higher cost or lower revenue. Skarion's January offshore drafting was $18,670 U, split into $11,830 U price + $6,840 U volume. Always decompose before you act.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502920" cy="50292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457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234440" y="53035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 96 — COST CENTERS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914400"/>
            <a:ext cx="10698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Cost Centers, Profit Centers, and How Big Companies Think</a:t>
            </a:r>
            <a:endParaRPr lang="en-US" sz="26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74520"/>
          <a:ext cx="10698480" cy="914400"/>
        </p:xfrm>
        <a:graphic>
          <a:graphicData uri="http://schemas.openxmlformats.org/drawingml/2006/table">
            <a:tbl>
              <a:tblPr/>
              <a:tblGrid>
                <a:gridCol w="3566160"/>
                <a:gridCol w="3566160"/>
                <a:gridCol w="35661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Segment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Incurs costs but doesn't directly generate revenue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IT, HR, Legal — and the accounting team itself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Profit 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Generates its own revenue and has its own P&amp;L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regional office, each product 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 Center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profit center that also controls its own capital investment decisions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024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division that approves its own capex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11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241280" y="-1097280"/>
            <a:ext cx="3657600" cy="365760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A3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SELF-CHECK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86868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Allocation Methods Quiz — Which Is Most Equitable?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178308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7830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280160" y="176479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Allocating the $8,000 IT overhead by headcount — Engineering pays how much?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20040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2004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280160" y="318211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IT team tracks its time per project, which allocation base is MOST equitable for IT cost?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731520" y="4617720"/>
            <a:ext cx="384048" cy="384048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46177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B4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280160" y="4599432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subsidiaries share a $50K cost center. Sub A charges Sub B $30K for services. At consolidation, what happens to the $30K?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choices and full explanations are in the interactive lesson.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37760" y="914400"/>
            <a:ext cx="2286000" cy="2286000"/>
          </a:xfrm>
          <a:prstGeom prst="ellipse">
            <a:avLst/>
          </a:prstGeom>
          <a:solidFill>
            <a:srgbClr val="E8A33D"/>
          </a:solidFill>
          <a:ln/>
        </p:spPr>
      </p:sp>
      <p:sp>
        <p:nvSpPr>
          <p:cNvPr id="3" name="Text 1"/>
          <p:cNvSpPr/>
          <p:nvPr/>
        </p:nvSpPr>
        <p:spPr>
          <a:xfrm>
            <a:off x="4937760" y="914400"/>
            <a:ext cx="22860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41B4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✓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1645920" y="3566160"/>
            <a:ext cx="8869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 complete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4206240"/>
            <a:ext cx="8869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Accounting &amp; Managerial Basics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Cost Accounting &amp; Managerial Basics</dc:title>
  <dc:subject>PptxGenJS Presentation</dc:subject>
  <dc:creator>Skarion Accounting Track</dc:creator>
  <cp:lastModifiedBy>Skarion Accounting Track</cp:lastModifiedBy>
  <cp:revision>1</cp:revision>
  <dcterms:created xsi:type="dcterms:W3CDTF">2026-07-16T04:11:38Z</dcterms:created>
  <dcterms:modified xsi:type="dcterms:W3CDTF">2026-07-16T04:11:38Z</dcterms:modified>
</cp:coreProperties>
</file>