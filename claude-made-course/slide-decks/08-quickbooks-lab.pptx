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645920"/>
            <a:ext cx="4572000" cy="4572000"/>
          </a:xfrm>
          <a:prstGeom prst="ellipse">
            <a:avLst/>
          </a:prstGeom>
          <a:solidFill>
            <a:srgbClr val="141B49"/>
          </a:solidFill>
          <a:ln/>
        </p:spPr>
      </p:sp>
      <p:sp>
        <p:nvSpPr>
          <p:cNvPr id="3" name="Shape 1"/>
          <p:cNvSpPr/>
          <p:nvPr/>
        </p:nvSpPr>
        <p:spPr>
          <a:xfrm>
            <a:off x="-1371600" y="4754880"/>
            <a:ext cx="3200400" cy="3200400"/>
          </a:xfrm>
          <a:prstGeom prst="ellipse">
            <a:avLst/>
          </a:prstGeom>
          <a:solidFill>
            <a:srgbClr val="141B49"/>
          </a:solidFill>
          <a:ln/>
        </p:spPr>
      </p:sp>
      <p:sp>
        <p:nvSpPr>
          <p:cNvPr id="4" name="Text 2"/>
          <p:cNvSpPr/>
          <p:nvPr/>
        </p:nvSpPr>
        <p:spPr>
          <a:xfrm>
            <a:off x="731520" y="1463040"/>
            <a:ext cx="9144000" cy="365760"/>
          </a:xfrm>
          <a:prstGeom prst="rect">
            <a:avLst/>
          </a:prstGeom>
          <a:noFill/>
          <a:ln/>
        </p:spPr>
        <p:txBody>
          <a:bodyPr wrap="square"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MODULE 08</a:t>
            </a:r>
            <a:endParaRPr lang="en-US" sz="1300" dirty="0"/>
          </a:p>
        </p:txBody>
      </p:sp>
      <p:sp>
        <p:nvSpPr>
          <p:cNvPr id="5" name="Text 3"/>
          <p:cNvSpPr/>
          <p:nvPr/>
        </p:nvSpPr>
        <p:spPr>
          <a:xfrm>
            <a:off x="731520" y="1920240"/>
            <a:ext cx="10241280" cy="146304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SkarionBooks Lab — QuickBooks Simulator</a:t>
            </a:r>
            <a:endParaRPr lang="en-US" sz="4000" dirty="0"/>
          </a:p>
        </p:txBody>
      </p:sp>
      <p:sp>
        <p:nvSpPr>
          <p:cNvPr id="6" name="Text 4"/>
          <p:cNvSpPr/>
          <p:nvPr/>
        </p:nvSpPr>
        <p:spPr>
          <a:xfrm>
            <a:off x="731520" y="3429000"/>
            <a:ext cx="9601200" cy="1005840"/>
          </a:xfrm>
          <a:prstGeom prst="rect">
            <a:avLst/>
          </a:prstGeom>
          <a:noFill/>
          <a:ln/>
        </p:spPr>
        <p:txBody>
          <a:bodyPr wrap="square" rtlCol="0" anchor="ctr"/>
          <a:lstStyle/>
          <a:p>
            <a:pPr indent="0" marL="0">
              <a:lnSpc>
                <a:spcPct val="130000"/>
              </a:lnSpc>
              <a:buNone/>
            </a:pPr>
            <a:r>
              <a:rPr lang="en-US" sz="1600" dirty="0">
                <a:solidFill>
                  <a:srgbClr val="CADCFC"/>
                </a:solidFill>
                <a:latin typeface="Calibri" pitchFamily="34" charset="0"/>
                <a:ea typeface="Calibri" pitchFamily="34" charset="-122"/>
                <a:cs typeface="Calibri" pitchFamily="34" charset="-120"/>
              </a:rPr>
              <a:t>SkarionBooks is our custom QuickBooks simulator — a full SPA with a chart of accounts, journal entry posting, AR invoicing, cash receipts, bank reconciliation, and financial reports. No paid QBO trial required.</a:t>
            </a:r>
            <a:endParaRPr lang="en-US" sz="1600" dirty="0"/>
          </a:p>
        </p:txBody>
      </p:sp>
      <p:sp>
        <p:nvSpPr>
          <p:cNvPr id="7" name="Shape 5"/>
          <p:cNvSpPr/>
          <p:nvPr/>
        </p:nvSpPr>
        <p:spPr>
          <a:xfrm>
            <a:off x="731520" y="4663440"/>
            <a:ext cx="3291840" cy="457200"/>
          </a:xfrm>
          <a:prstGeom prst="roundRect">
            <a:avLst>
              <a:gd name="adj" fmla="val 50000"/>
            </a:avLst>
          </a:prstGeom>
          <a:solidFill>
            <a:srgbClr val="141B49"/>
          </a:solidFill>
          <a:ln w="12700">
            <a:solidFill>
              <a:srgbClr val="E8A33D"/>
            </a:solidFill>
            <a:prstDash val="solid"/>
          </a:ln>
        </p:spPr>
      </p:sp>
      <p:sp>
        <p:nvSpPr>
          <p:cNvPr id="8" name="Text 6"/>
          <p:cNvSpPr/>
          <p:nvPr/>
        </p:nvSpPr>
        <p:spPr>
          <a:xfrm>
            <a:off x="731520" y="4663440"/>
            <a:ext cx="3291840" cy="457200"/>
          </a:xfrm>
          <a:prstGeom prst="rect">
            <a:avLst/>
          </a:prstGeom>
          <a:noFill/>
          <a:ln/>
        </p:spPr>
        <p:txBody>
          <a:bodyPr wrap="square"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Day 8</a:t>
            </a:r>
            <a:endParaRPr lang="en-US" sz="1100" dirty="0"/>
          </a:p>
        </p:txBody>
      </p:sp>
      <p:sp>
        <p:nvSpPr>
          <p:cNvPr id="9" name="Text 7"/>
          <p:cNvSpPr/>
          <p:nvPr/>
        </p:nvSpPr>
        <p:spPr>
          <a:xfrm>
            <a:off x="731520" y="6309360"/>
            <a:ext cx="7315200" cy="274320"/>
          </a:xfrm>
          <a:prstGeom prst="rect">
            <a:avLst/>
          </a:prstGeom>
          <a:noFill/>
          <a:ln/>
        </p:spPr>
        <p:txBody>
          <a:bodyPr wrap="square" rtlCol="0" anchor="ctr"/>
          <a:lstStyle/>
          <a:p>
            <a:pPr indent="0" marL="0">
              <a:buNone/>
            </a:pPr>
            <a:r>
              <a:rPr lang="en-US" sz="1000" spc="100" kern="0" dirty="0">
                <a:solidFill>
                  <a:srgbClr val="5B6472"/>
                </a:solidFill>
                <a:latin typeface="Calibri" pitchFamily="34" charset="0"/>
                <a:ea typeface="Calibri" pitchFamily="34" charset="-122"/>
                <a:cs typeface="Calibri" pitchFamily="34" charset="-120"/>
              </a:rPr>
              <a:t>SKARION ACCOUNTING TRACK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3FC"/>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a:t>
            </a:r>
            <a:endParaRPr lang="en-US" sz="1600" dirty="0"/>
          </a:p>
        </p:txBody>
      </p:sp>
      <p:sp>
        <p:nvSpPr>
          <p:cNvPr id="4" name="Shape 2"/>
          <p:cNvSpPr/>
          <p:nvPr/>
        </p:nvSpPr>
        <p:spPr>
          <a:xfrm>
            <a:off x="1280160" y="1463040"/>
            <a:ext cx="9601200" cy="3657600"/>
          </a:xfrm>
          <a:prstGeom prst="roundRect">
            <a:avLst>
              <a:gd name="adj" fmla="val 3000"/>
            </a:avLst>
          </a:prstGeom>
          <a:solidFill>
            <a:srgbClr val="FFFFFF"/>
          </a:solidFill>
          <a:ln/>
          <a:effectLst>
            <a:outerShdw sx="100000" sy="100000" kx="0" ky="0" algn="bl" rotWithShape="0" blurRad="152400" dist="50800" dir="5400000">
              <a:srgbClr val="808080">
                <a:alpha val="25000"/>
              </a:srgbClr>
            </a:outerShdw>
          </a:effectLst>
        </p:spPr>
      </p:sp>
      <p:sp>
        <p:nvSpPr>
          <p:cNvPr id="5" name="Text 3"/>
          <p:cNvSpPr/>
          <p:nvPr/>
        </p:nvSpPr>
        <p:spPr>
          <a:xfrm>
            <a:off x="1737360" y="1828800"/>
            <a:ext cx="8686800" cy="365760"/>
          </a:xfrm>
          <a:prstGeom prst="rect">
            <a:avLst/>
          </a:prstGeom>
          <a:noFill/>
          <a:ln/>
        </p:spPr>
        <p:txBody>
          <a:bodyPr wrap="square"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WHY THIS MATTERS</a:t>
            </a:r>
            <a:endParaRPr lang="en-US" sz="1200" dirty="0"/>
          </a:p>
        </p:txBody>
      </p:sp>
      <p:sp>
        <p:nvSpPr>
          <p:cNvPr id="6" name="Text 4"/>
          <p:cNvSpPr/>
          <p:nvPr/>
        </p:nvSpPr>
        <p:spPr>
          <a:xfrm>
            <a:off x="1737360" y="2286000"/>
            <a:ext cx="8686800" cy="2560320"/>
          </a:xfrm>
          <a:prstGeom prst="rect">
            <a:avLst/>
          </a:prstGeom>
          <a:noFill/>
          <a:ln/>
        </p:spPr>
        <p:txBody>
          <a:bodyPr wrap="square" rtlCol="0" anchor="ctr"/>
          <a:lstStyle/>
          <a:p>
            <a:pPr indent="0" marL="0">
              <a:lnSpc>
                <a:spcPct val="140000"/>
              </a:lnSpc>
              <a:buNone/>
            </a:pPr>
            <a:r>
              <a:rPr lang="en-US" sz="2200" i="1" dirty="0">
                <a:solidFill>
                  <a:srgbClr val="1E2761"/>
                </a:solidFill>
                <a:latin typeface="Cambria" pitchFamily="34" charset="0"/>
                <a:ea typeface="Cambria" pitchFamily="34" charset="-122"/>
                <a:cs typeface="Cambria" pitchFamily="34" charset="-120"/>
              </a:rPr>
              <a:t>"Do you actually know your way around a GL system, or only the textbook?" SkarionBooks lets you prove it: open the simulator, post the entries you learned in Modules 02–06, and produce real reports off real Skarion Engineering numbers.</a:t>
            </a:r>
            <a:endParaRPr lang="en-US" sz="2200" dirty="0"/>
          </a:p>
        </p:txBody>
      </p:sp>
      <p:sp>
        <p:nvSpPr>
          <p:cNvPr id="7" name="Text 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02</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BEFORE YOU START</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What SkarionBooks is — and what it isn't</a:t>
            </a:r>
            <a:endParaRPr lang="en-US" sz="2600" dirty="0"/>
          </a:p>
        </p:txBody>
      </p:sp>
      <p:sp>
        <p:nvSpPr>
          <p:cNvPr id="6" name="Text 4"/>
          <p:cNvSpPr/>
          <p:nvPr/>
        </p:nvSpPr>
        <p:spPr>
          <a:xfrm>
            <a:off x="731520" y="1874520"/>
            <a:ext cx="6400800" cy="3931920"/>
          </a:xfrm>
          <a:prstGeom prst="rect">
            <a:avLst/>
          </a:prstGeom>
          <a:noFill/>
          <a:ln/>
        </p:spPr>
        <p:txBody>
          <a:bodyPr wrap="square" rtlCol="0" anchor="t"/>
          <a:lstStyle/>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SkarionBooks is a self-contained ledger simulator built for this course. It comes pre-loaded with Skarion Engineering's full chart of accounts and opening balances, so you can post journal entries, create AR invoices, apply cash receipts, run a bank reconciliation, and generate a P&amp;L and Balance Sheet — without needing a $600/year QuickBooks Online subscription.</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Pre-loaded trial balance (opening): 47 accounts, ~$1.2M in opening Accounts Receivable, $340,000 in Operating Checking, $280,000 in Accounts Payable, a $500,000 term loan at 6.5%, and ~$2.1M in equity. Total debits equal total credits by construction — your job is to keep them that way as you post.</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You do not configure the COA from scratch here; you did that work in Module 02. Here you use it: process invoices, post entries, reconcile, and report.</a:t>
            </a:r>
            <a:endParaRPr lang="en-US" sz="1500" dirty="0"/>
          </a:p>
        </p:txBody>
      </p:sp>
      <p:sp>
        <p:nvSpPr>
          <p:cNvPr id="7" name="Shape 5"/>
          <p:cNvSpPr/>
          <p:nvPr/>
        </p:nvSpPr>
        <p:spPr>
          <a:xfrm>
            <a:off x="7406640" y="1874520"/>
            <a:ext cx="4023360" cy="3566160"/>
          </a:xfrm>
          <a:prstGeom prst="roundRect">
            <a:avLst>
              <a:gd name="adj" fmla="val 2564"/>
            </a:avLst>
          </a:prstGeom>
          <a:solidFill>
            <a:srgbClr val="FFF7E8"/>
          </a:solidFill>
          <a:ln/>
        </p:spPr>
      </p:sp>
      <p:sp>
        <p:nvSpPr>
          <p:cNvPr id="8" name="Shape 6"/>
          <p:cNvSpPr/>
          <p:nvPr/>
        </p:nvSpPr>
        <p:spPr>
          <a:xfrm>
            <a:off x="7680960" y="2148840"/>
            <a:ext cx="365760" cy="365760"/>
          </a:xfrm>
          <a:prstGeom prst="ellipse">
            <a:avLst/>
          </a:prstGeom>
          <a:solidFill>
            <a:srgbClr val="E8A33D"/>
          </a:solidFill>
          <a:ln/>
        </p:spPr>
      </p:sp>
      <p:sp>
        <p:nvSpPr>
          <p:cNvPr id="9" name="Text 7"/>
          <p:cNvSpPr/>
          <p:nvPr/>
        </p:nvSpPr>
        <p:spPr>
          <a:xfrm>
            <a:off x="8229600" y="2148840"/>
            <a:ext cx="3017520" cy="365760"/>
          </a:xfrm>
          <a:prstGeom prst="rect">
            <a:avLst/>
          </a:prstGeom>
          <a:noFill/>
          <a:ln/>
        </p:spPr>
        <p:txBody>
          <a:bodyPr wrap="square"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TIP</a:t>
            </a:r>
            <a:endParaRPr lang="en-US" sz="1000" dirty="0"/>
          </a:p>
        </p:txBody>
      </p:sp>
      <p:sp>
        <p:nvSpPr>
          <p:cNvPr id="10" name="Text 8"/>
          <p:cNvSpPr/>
          <p:nvPr/>
        </p:nvSpPr>
        <p:spPr>
          <a:xfrm>
            <a:off x="7680960" y="2606040"/>
            <a:ext cx="3566160" cy="2651760"/>
          </a:xfrm>
          <a:prstGeom prst="rect">
            <a:avLst/>
          </a:prstGeom>
          <a:noFill/>
          <a:ln/>
        </p:spPr>
        <p:txBody>
          <a:bodyPr wrap="square" rtlCol="0" anchor="ctr"/>
          <a:lstStyle/>
          <a:p>
            <a:pPr indent="0" marL="0">
              <a:lnSpc>
                <a:spcPct val="130000"/>
              </a:lnSpc>
              <a:buNone/>
            </a:pPr>
            <a:r>
              <a:rPr lang="en-US" sz="1250" dirty="0">
                <a:solidFill>
                  <a:srgbClr val="20242E"/>
                </a:solidFill>
                <a:latin typeface="Calibri" pitchFamily="34" charset="0"/>
                <a:ea typeface="Calibri" pitchFamily="34" charset="-122"/>
                <a:cs typeface="Calibri" pitchFamily="34" charset="-120"/>
              </a:rPr>
              <a:t>Open SkarionBooks using the link in the lab below (it runs as a single-page app inside the course package). Keep it open in a second tab while you work through each task — post each entry in SkarionBooks, then come back here to check off the next step.</a:t>
            </a:r>
            <a:endParaRPr lang="en-US" sz="1250" dirty="0"/>
          </a:p>
        </p:txBody>
      </p:sp>
      <p:sp>
        <p:nvSpPr>
          <p:cNvPr id="11" name="Text 9"/>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03</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CHUNK 26 — SETUP LAB</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Chart of accounts review &amp; first transactions</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31520" y="1874520"/>
          <a:ext cx="10698480" cy="914400"/>
        </p:xfrm>
        <a:graphic>
          <a:graphicData uri="http://schemas.openxmlformats.org/drawingml/2006/table">
            <a:tbl>
              <a:tblPr/>
              <a:tblGrid>
                <a:gridCol w="2674620"/>
                <a:gridCol w="2674620"/>
                <a:gridCol w="2674620"/>
                <a:gridCol w="267462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Vendor</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Invoice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Amount</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Coding</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Global CAD Solutions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GCS-2026-091</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$9,625.00</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Dr 5100 COGS — Subcontractor Drafting / Cr 2000 AP</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ArcGIS Pro (annual renewal)</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ESRI-2026-RN</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$36,000.00</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Dr 1400 Prepaid Software / Cr 1000 Operating Checking</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Office landlord (monthly rent)</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LEASE-2026-01</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$12,800.00</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Dr 6500 Software &amp; Subscriptions → reclassify to Rent* / Cr 1000 Operating Checking</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bl>
          </a:graphicData>
        </a:graphic>
      </p:graphicFrame>
      <p:sp>
        <p:nvSpPr>
          <p:cNvPr id="7" name="Text 4"/>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3FC"/>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04</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HANDS-ON EXERCISE</a:t>
            </a:r>
            <a:endParaRPr lang="en-US" sz="1100" dirty="0"/>
          </a:p>
        </p:txBody>
      </p:sp>
      <p:sp>
        <p:nvSpPr>
          <p:cNvPr id="5" name="Text 3"/>
          <p:cNvSpPr/>
          <p:nvPr/>
        </p:nvSpPr>
        <p:spPr>
          <a:xfrm>
            <a:off x="731520" y="914400"/>
            <a:ext cx="10515600" cy="64008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Open SkarionBooks and complete the setup lab</a:t>
            </a:r>
            <a:endParaRPr lang="en-US" sz="2400" dirty="0"/>
          </a:p>
        </p:txBody>
      </p:sp>
      <p:sp>
        <p:nvSpPr>
          <p:cNvPr id="6" name="Shape 4"/>
          <p:cNvSpPr/>
          <p:nvPr/>
        </p:nvSpPr>
        <p:spPr>
          <a:xfrm>
            <a:off x="731520" y="1737360"/>
            <a:ext cx="6675120" cy="4023360"/>
          </a:xfrm>
          <a:prstGeom prst="roundRect">
            <a:avLst>
              <a:gd name="adj" fmla="val 2273"/>
            </a:avLst>
          </a:prstGeom>
          <a:solidFill>
            <a:srgbClr val="FFFFFF"/>
          </a:solidFill>
          <a:ln/>
        </p:spPr>
      </p:sp>
      <p:sp>
        <p:nvSpPr>
          <p:cNvPr id="7" name="Text 5"/>
          <p:cNvSpPr/>
          <p:nvPr/>
        </p:nvSpPr>
        <p:spPr>
          <a:xfrm>
            <a:off x="1005840" y="1965960"/>
            <a:ext cx="6126480" cy="3566160"/>
          </a:xfrm>
          <a:prstGeom prst="rect">
            <a:avLst/>
          </a:prstGeom>
          <a:noFill/>
          <a:ln/>
        </p:spPr>
        <p:txBody>
          <a:bodyPr wrap="square" rtlCol="0" anchor="t"/>
          <a:lstStyle/>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Open SkarionBooks and complete all four setup-lab tasks above: COA review, opening trial-balance check, processing the three vendor invoices, and posting the January payroll run. After each entry, run the trial balance and confirm it still balances. Capture a screenshot of your completed trial balance.</a:t>
            </a:r>
            <a:endParaRPr lang="en-US" sz="1350" dirty="0"/>
          </a:p>
        </p:txBody>
      </p:sp>
      <p:sp>
        <p:nvSpPr>
          <p:cNvPr id="8" name="Shape 6"/>
          <p:cNvSpPr/>
          <p:nvPr/>
        </p:nvSpPr>
        <p:spPr>
          <a:xfrm>
            <a:off x="7635240" y="1737360"/>
            <a:ext cx="3794760" cy="594360"/>
          </a:xfrm>
          <a:prstGeom prst="roundRect">
            <a:avLst>
              <a:gd name="adj" fmla="val 49231"/>
            </a:avLst>
          </a:prstGeom>
          <a:solidFill>
            <a:srgbClr val="1E2761"/>
          </a:solidFill>
          <a:ln/>
        </p:spPr>
      </p:sp>
      <p:sp>
        <p:nvSpPr>
          <p:cNvPr id="9" name="Text 7"/>
          <p:cNvSpPr/>
          <p:nvPr/>
        </p:nvSpPr>
        <p:spPr>
          <a:xfrm>
            <a:off x="7818120" y="1737360"/>
            <a:ext cx="3474720" cy="594360"/>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Open SkarionBooks simulator</a:t>
            </a:r>
            <a:endParaRPr lang="en-US" sz="1100" dirty="0"/>
          </a:p>
        </p:txBody>
      </p:sp>
      <p:sp>
        <p:nvSpPr>
          <p:cNvPr id="10" name="Shape 8"/>
          <p:cNvSpPr/>
          <p:nvPr/>
        </p:nvSpPr>
        <p:spPr>
          <a:xfrm>
            <a:off x="7635240" y="4846320"/>
            <a:ext cx="3794760" cy="1417320"/>
          </a:xfrm>
          <a:prstGeom prst="roundRect">
            <a:avLst>
              <a:gd name="adj" fmla="val 6452"/>
            </a:avLst>
          </a:prstGeom>
          <a:solidFill>
            <a:srgbClr val="141B49"/>
          </a:solidFill>
          <a:ln/>
        </p:spPr>
      </p:sp>
      <p:sp>
        <p:nvSpPr>
          <p:cNvPr id="11" name="Text 9"/>
          <p:cNvSpPr/>
          <p:nvPr/>
        </p:nvSpPr>
        <p:spPr>
          <a:xfrm>
            <a:off x="7863840" y="4983480"/>
            <a:ext cx="3291840" cy="274320"/>
          </a:xfrm>
          <a:prstGeom prst="rect">
            <a:avLst/>
          </a:prstGeom>
          <a:noFill/>
          <a:ln/>
        </p:spPr>
        <p:txBody>
          <a:bodyPr wrap="square"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REFLECT</a:t>
            </a:r>
            <a:endParaRPr lang="en-US" sz="1000" dirty="0"/>
          </a:p>
        </p:txBody>
      </p:sp>
      <p:sp>
        <p:nvSpPr>
          <p:cNvPr id="12" name="Text 10"/>
          <p:cNvSpPr/>
          <p:nvPr/>
        </p:nvSpPr>
        <p:spPr>
          <a:xfrm>
            <a:off x="7863840" y="5257800"/>
            <a:ext cx="3291840" cy="914400"/>
          </a:xfrm>
          <a:prstGeom prst="rect">
            <a:avLst/>
          </a:prstGeom>
          <a:noFill/>
          <a:ln/>
        </p:spPr>
        <p:txBody>
          <a:bodyPr wrap="square" rtlCol="0" anchor="ctr"/>
          <a:lstStyle/>
          <a:p>
            <a:pPr indent="0" marL="0">
              <a:lnSpc>
                <a:spcPct val="120000"/>
              </a:lnSpc>
              <a:buNone/>
            </a:pPr>
            <a:r>
              <a:rPr lang="en-US" sz="1100" i="1" dirty="0">
                <a:solidFill>
                  <a:srgbClr val="CADCFC"/>
                </a:solidFill>
                <a:latin typeface="Calibri" pitchFamily="34" charset="0"/>
                <a:ea typeface="Calibri" pitchFamily="34" charset="-122"/>
                <a:cs typeface="Calibri" pitchFamily="34" charset="-120"/>
              </a:rPr>
              <a:t>After posting all four tasks, what was your total Operating Checking balance, and did the trial balance still balance to the cent? Note any accounts you questioned during the COA review.</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05</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CHUNK 27 — AR &amp; BANK REC LAB</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AR invoice, cash receipt, and bank reconciliation</a:t>
            </a:r>
            <a:endParaRPr lang="en-US" sz="2600" dirty="0"/>
          </a:p>
        </p:txBody>
      </p:sp>
      <p:sp>
        <p:nvSpPr>
          <p:cNvPr id="6" name="Text 4"/>
          <p:cNvSpPr/>
          <p:nvPr/>
        </p:nvSpPr>
        <p:spPr>
          <a:xfrm>
            <a:off x="731520" y="1874520"/>
            <a:ext cx="10698480" cy="3931920"/>
          </a:xfrm>
          <a:prstGeom prst="rect">
            <a:avLst/>
          </a:prstGeom>
          <a:noFill/>
          <a:ln/>
        </p:spPr>
        <p:txBody>
          <a:bodyPr wrap="square" rtlCol="0" anchor="t"/>
          <a:lstStyle/>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Create the AR invoice for the Tennessee Corridor HLD milestone: invoice Atlantic Fiber Co. for $480,000 (40% of the $1.2M contract). Coding: Dr 1100 Accounts Receivable $480,000 / Cr 4000 Engineering Design Revenue $480,000.</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Record the incoming wire from Atlantic Fiber Co. — $480,000 gross, less the $25 incoming wire fee, netting $479,975 to Operating Checking. Coding: Dr 1000 $479,975, Dr 6900 Bank Fees Expense $25, Cr 1100 AR $480,000.</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Apply the payment to the open invoice in the AR subledger and confirm the invoice is cleared and no longer aging.</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Post the bank fee correcting entry and confirm the fee is isolated in 6900.</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Run the bank reconciliation for January — match every transaction to the provided bank statement until the adjusted balances both equal $336,250.00 , including the DEP-0091 duplicate deposit correction (Dr 1100 AR $10,547.10 / Cr 1000 Cash $10,547.10).</a:t>
            </a:r>
            <a:endParaRPr lang="en-US" sz="1500" dirty="0"/>
          </a:p>
        </p:txBody>
      </p:sp>
      <p:sp>
        <p:nvSpPr>
          <p:cNvPr id="7" name="Text 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3FC"/>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06</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HANDS-ON EXERCISE</a:t>
            </a:r>
            <a:endParaRPr lang="en-US" sz="1100" dirty="0"/>
          </a:p>
        </p:txBody>
      </p:sp>
      <p:sp>
        <p:nvSpPr>
          <p:cNvPr id="5" name="Text 3"/>
          <p:cNvSpPr/>
          <p:nvPr/>
        </p:nvSpPr>
        <p:spPr>
          <a:xfrm>
            <a:off x="731520" y="914400"/>
            <a:ext cx="10515600" cy="64008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Complete the AR, cash, and bank rec lab in SkarionBooks</a:t>
            </a:r>
            <a:endParaRPr lang="en-US" sz="2400" dirty="0"/>
          </a:p>
        </p:txBody>
      </p:sp>
      <p:sp>
        <p:nvSpPr>
          <p:cNvPr id="6" name="Shape 4"/>
          <p:cNvSpPr/>
          <p:nvPr/>
        </p:nvSpPr>
        <p:spPr>
          <a:xfrm>
            <a:off x="731520" y="1737360"/>
            <a:ext cx="6675120" cy="4023360"/>
          </a:xfrm>
          <a:prstGeom prst="roundRect">
            <a:avLst>
              <a:gd name="adj" fmla="val 2273"/>
            </a:avLst>
          </a:prstGeom>
          <a:solidFill>
            <a:srgbClr val="FFFFFF"/>
          </a:solidFill>
          <a:ln/>
        </p:spPr>
      </p:sp>
      <p:sp>
        <p:nvSpPr>
          <p:cNvPr id="7" name="Text 5"/>
          <p:cNvSpPr/>
          <p:nvPr/>
        </p:nvSpPr>
        <p:spPr>
          <a:xfrm>
            <a:off x="1005840" y="1965960"/>
            <a:ext cx="6126480" cy="3566160"/>
          </a:xfrm>
          <a:prstGeom prst="rect">
            <a:avLst/>
          </a:prstGeom>
          <a:noFill/>
          <a:ln/>
        </p:spPr>
        <p:txBody>
          <a:bodyPr wrap="square" rtlCol="0" anchor="t"/>
          <a:lstStyle/>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Work through all six tasks in the chunk above. The key proof points: the Atlantic Fiber invoice clears to zero after the wire is applied, the bank reconciliation converges on $336,250.00, and the January P&amp;L lands near $242,000 net income. Capture screenshots of (1) the cleared AR subledger, (2) the completed bank reconciliation, and (3) the P&amp;L.</a:t>
            </a:r>
            <a:endParaRPr lang="en-US" sz="1350" dirty="0"/>
          </a:p>
        </p:txBody>
      </p:sp>
      <p:sp>
        <p:nvSpPr>
          <p:cNvPr id="8" name="Shape 6"/>
          <p:cNvSpPr/>
          <p:nvPr/>
        </p:nvSpPr>
        <p:spPr>
          <a:xfrm>
            <a:off x="7635240" y="1737360"/>
            <a:ext cx="3794760" cy="594360"/>
          </a:xfrm>
          <a:prstGeom prst="roundRect">
            <a:avLst>
              <a:gd name="adj" fmla="val 49231"/>
            </a:avLst>
          </a:prstGeom>
          <a:solidFill>
            <a:srgbClr val="1E2761"/>
          </a:solidFill>
          <a:ln/>
        </p:spPr>
      </p:sp>
      <p:sp>
        <p:nvSpPr>
          <p:cNvPr id="9" name="Text 7"/>
          <p:cNvSpPr/>
          <p:nvPr/>
        </p:nvSpPr>
        <p:spPr>
          <a:xfrm>
            <a:off x="7818120" y="1737360"/>
            <a:ext cx="3474720" cy="594360"/>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Open SkarionBooks simulator</a:t>
            </a:r>
            <a:endParaRPr lang="en-US" sz="1100" dirty="0"/>
          </a:p>
        </p:txBody>
      </p:sp>
      <p:sp>
        <p:nvSpPr>
          <p:cNvPr id="10" name="Shape 8"/>
          <p:cNvSpPr/>
          <p:nvPr/>
        </p:nvSpPr>
        <p:spPr>
          <a:xfrm>
            <a:off x="7635240" y="2514600"/>
            <a:ext cx="3794760" cy="594360"/>
          </a:xfrm>
          <a:prstGeom prst="roundRect">
            <a:avLst>
              <a:gd name="adj" fmla="val 49231"/>
            </a:avLst>
          </a:prstGeom>
          <a:solidFill>
            <a:srgbClr val="1E2761"/>
          </a:solidFill>
          <a:ln/>
        </p:spPr>
      </p:sp>
      <p:sp>
        <p:nvSpPr>
          <p:cNvPr id="11" name="Text 9"/>
          <p:cNvSpPr/>
          <p:nvPr/>
        </p:nvSpPr>
        <p:spPr>
          <a:xfrm>
            <a:off x="7818120" y="2514600"/>
            <a:ext cx="3474720" cy="594360"/>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January Bank Statement.xlsx</a:t>
            </a:r>
            <a:endParaRPr lang="en-US" sz="1100" dirty="0"/>
          </a:p>
        </p:txBody>
      </p:sp>
      <p:sp>
        <p:nvSpPr>
          <p:cNvPr id="12" name="Shape 10"/>
          <p:cNvSpPr/>
          <p:nvPr/>
        </p:nvSpPr>
        <p:spPr>
          <a:xfrm>
            <a:off x="7635240" y="4846320"/>
            <a:ext cx="3794760" cy="1417320"/>
          </a:xfrm>
          <a:prstGeom prst="roundRect">
            <a:avLst>
              <a:gd name="adj" fmla="val 6452"/>
            </a:avLst>
          </a:prstGeom>
          <a:solidFill>
            <a:srgbClr val="141B49"/>
          </a:solidFill>
          <a:ln/>
        </p:spPr>
      </p:sp>
      <p:sp>
        <p:nvSpPr>
          <p:cNvPr id="13" name="Text 11"/>
          <p:cNvSpPr/>
          <p:nvPr/>
        </p:nvSpPr>
        <p:spPr>
          <a:xfrm>
            <a:off x="7863840" y="4983480"/>
            <a:ext cx="3291840" cy="274320"/>
          </a:xfrm>
          <a:prstGeom prst="rect">
            <a:avLst/>
          </a:prstGeom>
          <a:noFill/>
          <a:ln/>
        </p:spPr>
        <p:txBody>
          <a:bodyPr wrap="square"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REFLECT</a:t>
            </a:r>
            <a:endParaRPr lang="en-US" sz="1000" dirty="0"/>
          </a:p>
        </p:txBody>
      </p:sp>
      <p:sp>
        <p:nvSpPr>
          <p:cNvPr id="14" name="Text 12"/>
          <p:cNvSpPr/>
          <p:nvPr/>
        </p:nvSpPr>
        <p:spPr>
          <a:xfrm>
            <a:off x="7863840" y="5257800"/>
            <a:ext cx="3291840" cy="914400"/>
          </a:xfrm>
          <a:prstGeom prst="rect">
            <a:avLst/>
          </a:prstGeom>
          <a:noFill/>
          <a:ln/>
        </p:spPr>
        <p:txBody>
          <a:bodyPr wrap="square" rtlCol="0" anchor="ctr"/>
          <a:lstStyle/>
          <a:p>
            <a:pPr indent="0" marL="0">
              <a:lnSpc>
                <a:spcPct val="120000"/>
              </a:lnSpc>
              <a:buNone/>
            </a:pPr>
            <a:r>
              <a:rPr lang="en-US" sz="1100" i="1" dirty="0">
                <a:solidFill>
                  <a:srgbClr val="CADCFC"/>
                </a:solidFill>
                <a:latin typeface="Calibri" pitchFamily="34" charset="0"/>
                <a:ea typeface="Calibri" pitchFamily="34" charset="-122"/>
                <a:cs typeface="Calibri" pitchFamily="34" charset="-120"/>
              </a:rPr>
              <a:t>Did your bank reconciliation converge to exactly $336,250.00? If not, what was the remaining unexplained item, and how did you finally trace it? Paste your final P&amp;L net income figure.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4937760" y="914400"/>
            <a:ext cx="2286000" cy="2286000"/>
          </a:xfrm>
          <a:prstGeom prst="ellipse">
            <a:avLst/>
          </a:prstGeom>
          <a:solidFill>
            <a:srgbClr val="E8A33D"/>
          </a:solidFill>
          <a:ln/>
        </p:spPr>
      </p:sp>
      <p:sp>
        <p:nvSpPr>
          <p:cNvPr id="3" name="Text 1"/>
          <p:cNvSpPr/>
          <p:nvPr/>
        </p:nvSpPr>
        <p:spPr>
          <a:xfrm>
            <a:off x="4937760" y="914400"/>
            <a:ext cx="2286000" cy="2286000"/>
          </a:xfrm>
          <a:prstGeom prst="rect">
            <a:avLst/>
          </a:prstGeom>
          <a:noFill/>
          <a:ln/>
        </p:spPr>
        <p:txBody>
          <a:bodyPr wrap="square" rtlCol="0" anchor="ctr"/>
          <a:lstStyle/>
          <a:p>
            <a:pPr algn="ctr" indent="0" marL="0">
              <a:buNone/>
            </a:pPr>
            <a:r>
              <a:rPr lang="en-US" sz="6000" b="1" dirty="0">
                <a:solidFill>
                  <a:srgbClr val="141B49"/>
                </a:solidFill>
                <a:latin typeface="Cambria" pitchFamily="34" charset="0"/>
                <a:ea typeface="Cambria" pitchFamily="34" charset="-122"/>
                <a:cs typeface="Cambria" pitchFamily="34" charset="-120"/>
              </a:rPr>
              <a:t>✓</a:t>
            </a:r>
            <a:endParaRPr lang="en-US" sz="6000" dirty="0"/>
          </a:p>
        </p:txBody>
      </p:sp>
      <p:sp>
        <p:nvSpPr>
          <p:cNvPr id="4" name="Text 2"/>
          <p:cNvSpPr/>
          <p:nvPr/>
        </p:nvSpPr>
        <p:spPr>
          <a:xfrm>
            <a:off x="1645920" y="3566160"/>
            <a:ext cx="8869680" cy="73152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Module complete</a:t>
            </a:r>
            <a:endParaRPr lang="en-US" sz="3000" dirty="0"/>
          </a:p>
        </p:txBody>
      </p:sp>
      <p:sp>
        <p:nvSpPr>
          <p:cNvPr id="5" name="Text 3"/>
          <p:cNvSpPr/>
          <p:nvPr/>
        </p:nvSpPr>
        <p:spPr>
          <a:xfrm>
            <a:off x="1645920" y="4206240"/>
            <a:ext cx="8869680" cy="457200"/>
          </a:xfrm>
          <a:prstGeom prst="rect">
            <a:avLst/>
          </a:prstGeom>
          <a:noFill/>
          <a:ln/>
        </p:spPr>
        <p:txBody>
          <a:bodyPr wrap="square" rtlCol="0" anchor="ctr"/>
          <a:lstStyle/>
          <a:p>
            <a:pPr algn="ctr" indent="0" marL="0">
              <a:buNone/>
            </a:pPr>
            <a:r>
              <a:rPr lang="en-US" sz="1500" dirty="0">
                <a:solidFill>
                  <a:srgbClr val="CADCFC"/>
                </a:solidFill>
                <a:latin typeface="Calibri" pitchFamily="34" charset="0"/>
                <a:ea typeface="Calibri" pitchFamily="34" charset="-122"/>
                <a:cs typeface="Calibri" pitchFamily="34" charset="-120"/>
              </a:rPr>
              <a:t>SkarionBooks Lab — QuickBooks Simulator</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SkarionBooks Lab — QuickBooks Simulator</dc:title>
  <dc:subject>PptxGenJS Presentation</dc:subject>
  <dc:creator>Skarion Accounting Track</dc:creator>
  <cp:lastModifiedBy>Skarion Accounting Track</cp:lastModifiedBy>
  <cp:revision>1</cp:revision>
  <dcterms:created xsi:type="dcterms:W3CDTF">2026-07-16T04:11:38Z</dcterms:created>
  <dcterms:modified xsi:type="dcterms:W3CDTF">2026-07-16T04:11:38Z</dcterms:modified>
</cp:coreProperties>
</file>