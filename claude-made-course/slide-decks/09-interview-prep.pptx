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09</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Interview Preparation</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You've closed the books, reconciled the bank, and run AR through SkarionBooks. Now you have to talk about it out loud, under pressure — and make it sound like real experience.</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9</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"Tell me about a time you found an error in the books." Every candidate has an answer. The question is whether yours is specific enough to believe. This module gives you the structure and the numbers to make yours unfakeable.</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FRAMEWORK</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Context → Action → Result, and the 126-question bank</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3200400"/>
                <a:gridCol w="32004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1. Context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Company, month, transaction, or report — name it specifically.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2. Action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What you checked, posted, reconciled, or escalated — and what you did not do.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 Result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The correction made, the report finished, and the lesson learned.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Covers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Interviewers listen for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Technical (56)</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GAAP, GL, AP/AR, close, payroll, fixed assets, journal entries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Correct treatment + a real Skarion number attached.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Behavioral (30)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STAR judgment, communication, ethics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 specific situation (not a hypothetical), the steps, the outcome.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Software (20)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Excel and SkarionBooks / QBO workflows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Practical use — not "I know Excel," but "I used SUMIFS to total unpaid invoices by vendor."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Scenario (20)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Workplace judgment calls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Whether you hold, correct, document, or escalate — and knowing the difference.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FFF3DE"/>
          </a:solidFill>
          <a:ln/>
        </p:spPr>
      </p:sp>
      <p:sp>
        <p:nvSpPr>
          <p:cNvPr id="8" name="Shape 5"/>
          <p:cNvSpPr/>
          <p:nvPr/>
        </p:nvSpPr>
        <p:spPr>
          <a:xfrm>
            <a:off x="7680960" y="2148840"/>
            <a:ext cx="365760" cy="365760"/>
          </a:xfrm>
          <a:prstGeom prst="ellipse">
            <a:avLst/>
          </a:prstGeom>
          <a:solidFill>
            <a:srgbClr val="C9862B"/>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C9862B"/>
                </a:solidFill>
                <a:latin typeface="Calibri" pitchFamily="34" charset="0"/>
                <a:ea typeface="Calibri" pitchFamily="34" charset="-122"/>
                <a:cs typeface="Calibri" pitchFamily="34" charset="-120"/>
              </a:rPr>
              <a:t>WARNING</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Strong answers are specific. Anyone can say "I'm detail-oriented and I catch errors." Almost nobody outside this simulation can say "I traced a $10,547.10 duplicate Southeast Broadband deposit (DEP-0091) entered twice, and corrected it by debiting AR and crediting Cash — not touching revenue, since revenue was never overstated." The second answer is unfakeable.</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10 must-know technical answers (with real Skarion numbers)</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Walk me through a month-end close.</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Followed a 5-day checklist: Day 1 lock timesheets/AP and post outstanding invoices; Day 2 post payroll and offshore accruals, amortize prepaids; Day 3 WIP, depreciation, interest accrual, trial balance; Day 4 bank rec and tie AR/AP subledgers to GL; Day 5 review P&amp;L vs budget and controller sign-off. January net income came out at $242,000 on $480,000 revenue.</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What is a 3-way match?</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Purchase Order + Receiving Report + Vendor Invoice must all agree before payment. On invoice GCS-2026-087 from Global CAD Solutions, the MSA rate was $38.50/mile but the invoice billed $42.00/mile — a $178.75 variance on 50 miles. I held it and requested a credit memo instead of paying.</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record depreciation?</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Straight-line: (cost − salvage) ÷ useful life. Skarion's 5 GIS workstations at $12,000 each, 5-year life, $0 salvage = $200/month each = $1,000/month total. Monthly entry: Dr 6700 Depreciation Expense $1,000 / Cr 1590 Accumulated Depreciation $1,000.</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accrue interest on a loan?</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Balance × rate ÷ time. Skarion's $500,000 term loan at 6.5% annual: $500,000 × 6.5% ÷ 12 = $2,708.33/month. Entry: Dr 6800 Interest Expense $2,708 / Cr 2300 Accrued Interest $2,708.</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Accrual vs. cash accounting?</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Record when earned/incurred, not when cash moves. Skarion delivers an HLD on Jan 28 — revenue is recognized in January even though the client pays in March. Cash basis would wait for the wire and misstate the period.</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What accounts do you reconcile at month-end?</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Cash/bank, AR and AP subledgers to the GL, fixed assets and accumulated depreciation, payroll liabilities, loans, prepaids, and accruals. January: tied the bank to an adjusted balance of $336,250.00, posted $1,000 depreciation, accrued $2,708 interest, and amortized $3,000 of the prepaid Vetro license.</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57 — HONEST FRAMING</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How to Talk About This Course in an Interview Without Sounding Fake</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 "In my accounting simulation portfolio project with Skarion Engineering, I..."</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 "Through a structured accounting simulation, I processed over 30 vendor invoices using the 3-way match..."</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 "I completed a full month-end close simulation including bank reconciliation, accruals, depreciation, and financial statement preparation."</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 "I worked at Skarion Engineering." (misrepresentation)</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 "I just did some practice exercises." (underselling)</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Why this framing works: it is honest (you never claim paid employment), specific (you name the artifacts — bank rec, accruals, journal entries — and the numbers attached), and it signals you understand the difference between simulation and lived work. That judgment is itself part of what employers hire for.</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Flip cards — simulation language for 6 interview contexts</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LinkedIn profile headline</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"Staff Accountant | Completed full accrual-basis close &amp; bank reconciliation simulation (Skarion Engineering portfolio)" — honest, specific, discoverable for recruiters.</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Resume bullet point</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"Performed a 3-way match on 30+ simulated vendor invoices, holding a $178.75 GCS-2026-087 price variance for credit-memo resolution." — quantified, action-led, document-specific.</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"Tell me about yourself"</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"I'm a Staff Accountant candidate whose portfolio work included closing the books for a simulated $2M fiber-design firm — bank rec to $336,250, payroll entries, adjusting entries, and a duplicate deposit I traced and corrected."</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Behavioral question</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Lead with the situation: "In my Skarion simulation close, the bank rec had a $10,547 gap..." — Context, Action, Result, with the simulation named honestly up front.</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Technical question</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Answer the treatment correctly, then anchor it: "In January's Skarion close I posted exactly this entry — Dr COGS $14,800 / Cr Accrued Liabilities for offshore work done before the invoice arrived."</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Reference / background-check question</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Be upfront with whoever offered the simulation (instructor, program, self-directed course) that you'd like to describe it honestly on applications — share the deliverables so they can speak to them if asked.</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07</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58 — PROFESSIONAL COMMUNICATION</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Professional Communication in Accounting — What to Say and When</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5349240"/>
                <a:gridCol w="53492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Drafted opener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Escalating an error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found a discrepancy I can't resolve alone. Here's what I found, here's what I've already tried, and here's my recommendation."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Pushing back on a bad instruction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want to make sure I understand — you'd like me to adjust the balance to match without tracing the source. Can you walk me through the business reason? I want to make sure we have documentation."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Chasing a late vendor invoice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"Hi [Vendor], I'm closing January's books and we have an outstanding [X] for [description]. Can you confirm the invoice status?"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Delivering bad news on cash position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Clear, factual, solution-oriented. Never alarmist. "Cash is lower than projected — here's why, here's the impact, here's what I'd recommend."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Asking for help without looking incompetent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"I've reviewed [X], tried [Y], and I'm getting [Z] — which isn't matching because of [suspected reason]. Can I get 5 minutes to walk through it with you?"</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Communication scenario role-play quiz</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 manager asks you to "just plug" the $340 bank-rec difference because the audit is tomorrow. Which email is best?</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You need to chase a vendor's missing $9,625 invoice before close. Best email?</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You need to ask your supervisor for 5 minutes of help on a subledger tie-out. Best ask?</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09</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29 — BEFORE AND AFTER</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Red flags vs. green flags: the same question, two ways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2133600"/>
                <a:gridCol w="2133600"/>
                <a:gridCol w="21336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Red flag (generic)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Green flag (Skarion-specific)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Bank reconciliation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adjust the difference."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"The bank showed $312,450 and the GL showed $346,823.60. After adding $28,000 in deposits in transit, removing a $4,200 outstanding check, a $45 unrecorded bank fee, $18.50 in unrecorded interest, and a $10,547.10 duplicate deposit, both sides met at $336,250.00. I never force the difference — I document the cause."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AP invoice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enter whatever the vendor sends."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"On GCS-2026-087 the MSA rate was $38.50/mile but the invoice billed $42.00/mile — a $178.75 variance on 50 miles — so I held it and requested a credit memo."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Internal controls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"Controls are someone else's job."</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"The 3-way match caught the $178.75 GCS-2026-087 price discrepancy and held it instead of paying through."</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Revenue recognition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record it when we get paid."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"Under ASC 606, the $1.2M Tennessee Corridor contract recognizes revenue as each performance obligation is satisfied — 40% at HLD delivery, so $480,000 books when the HLD is accepted, not when the wire lands."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Error handling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corrected it."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"DEP-0091, a $10,547.10 Southeast Broadband deposit, was entered twice in the GL. I confirmed the bank received it once and posted Dr AR $10,547.10 / Cr Cash $10,547.10 — revenue was never affected."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Judgment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figured it out myself."</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documented the discrepancy, escalated to my supervisor, and posted the correction only after sign-off — with the supporting ticket attached."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FFF7E8"/>
          </a:solidFill>
          <a:ln/>
        </p:spPr>
      </p:sp>
      <p:sp>
        <p:nvSpPr>
          <p:cNvPr id="8" name="Shape 5"/>
          <p:cNvSpPr/>
          <p:nvPr/>
        </p:nvSpPr>
        <p:spPr>
          <a:xfrm>
            <a:off x="7680960" y="2148840"/>
            <a:ext cx="365760" cy="365760"/>
          </a:xfrm>
          <a:prstGeom prst="ellipse">
            <a:avLst/>
          </a:prstGeom>
          <a:solidFill>
            <a:srgbClr val="E8A33D"/>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Notice the pattern: the green-flag answers never say "I'm accurate" or "I'm detail-oriented." They describe exactly what happened — with a dollar figure and a document number — and let the interviewer draw the conclusion themselves.</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Spot the specific answer</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Technical — "How do you handle a bank reconciliation discrepancy?" Which is the strong answer?</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Behavioral — "Tell me about a time you found an error in the books." Which is the weak version?</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Scenario — an invoice fails the 3-way match. What do you do?</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Mock interview exercise &amp; course completion</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Select 5 questions — at least one from each of the four categories (technical, behavioral, software, scenario).</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Write full Context → Action → Result answers using real numbers from your Skarion Engineering work: the $336,250.00 bank rec, the $10,547.10 duplicate, the $1,000 monthly depreciation, the $2,708 interest accrual, the 75.8-day DSO, the $178.75 GCS-2026-087 variance, or the $480,000 HLD milestone.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If you have a study partner, practice cold — no notes, 60–90 seconds per answer.</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If alone, record yourself, then watch it back and count how many times you say "basically," "kind of," or "I think." Reduce them.</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Interview Cheat Sheet — 20 Questions.docx</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Interview Question Bank — 126 Questions.docx</a:t>
            </a:r>
            <a:endParaRPr lang="en-US" sz="1100" dirty="0"/>
          </a:p>
        </p:txBody>
      </p:sp>
      <p:sp>
        <p:nvSpPr>
          <p:cNvPr id="12" name="Shape 10"/>
          <p:cNvSpPr/>
          <p:nvPr/>
        </p:nvSpPr>
        <p:spPr>
          <a:xfrm>
            <a:off x="7635240" y="4846320"/>
            <a:ext cx="3794760" cy="1417320"/>
          </a:xfrm>
          <a:prstGeom prst="roundRect">
            <a:avLst>
              <a:gd name="adj" fmla="val 6452"/>
            </a:avLst>
          </a:prstGeom>
          <a:solidFill>
            <a:srgbClr val="141B49"/>
          </a:solidFill>
          <a:ln/>
        </p:spPr>
      </p:sp>
      <p:sp>
        <p:nvSpPr>
          <p:cNvPr id="13" name="Text 11"/>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4" name="Text 12"/>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Which module's content was hardest to explain out loud without your notes? That is the one to re-do. Write your 5 answers below, in your own words, with real simulation numbers.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19</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72 — SALARY NEGOTIATION</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Salary Negotiation — The Three Moments</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The question "What are your salary expectations?" shows up three times, and each is a different conversation.</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Moment 1 — The application form. If you can leave it blank, do. If you must answer: "I am open to competitive compensation for this role and location. Based on my research, the range for entry-level staff accountants in [city] is $X–$Y, and I'm flexible within that range based on the full package." Research sources: BLS.gov occupational outlook, the Robert Half Salary Guide (annual), LinkedIn Salary Insights for your city.</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Moment 2 — The verbal offer. Do not accept on the spot. "Thank you — I'm very excited. Can I have 48 hours to review the details?" Then counter at 10–15% above their number: "Based on my research and the full scope of the role, I was hoping for [X]. Is there flexibility there?" If they say no: "Could we revisit compensation after 6 months if my performance meets expectations?" — get that in writing.</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Moment 3 — Benefits (when salary is fixed). Remote days, a CPA/professional-development budget, start-date flexibility, and a sign-on bonus if relocation is required.</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2025–2026 market benchmarks: entry-level staff accountant, no CPA — national average ~$45,000–$62,000; top markets (NYC, SF, Chicago) ~$58,000–$78,000. Know your floor before you walk in.</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20</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4 Salary Phrases — One Per Negotiation Moment</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On the application form</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"I'm open to competitive compensation for this role and location. Based on my research the range for entry-level staff accountants in [city] is $X–$Y, and I'm flexible within that range based on the full compensation package."</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When they make the verbal offer</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"Thank you — I'm very excited about this opportunity. Can I take 48 hours to review the full details?" Never accept on the spot; the offer is the anchor you'll counter from.</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The counter-offer phrase</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"Based on my research and the full scope of the role, I was hoping for [10–15% above their number]. Is there flexibility there?" Say the number — vague counter-offers get vague responses.</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When salary is fixed</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"I understand. Could we revisit compensation after 6 months if my performance meets expectations — and put that in the offer letter?" Also ask for remote days, a CPA-study budget, or start-date flexibility.</a:t>
            </a:r>
            <a:endParaRPr lang="en-US" sz="1050" dirty="0"/>
          </a:p>
        </p:txBody>
      </p:sp>
      <p:sp>
        <p:nvSpPr>
          <p:cNvPr id="17" name="Text 1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73 — LINKEDIN &amp; RESUME</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LinkedIn Profile &amp; Resume Checklist</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Headline: "Staff Accountant | Full Accounting Cycle | Bank Reconciliation | QBO | Excel" — not "Accounting Student Looking for Opportunities."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About: Present → Past → Future, 120–200 words.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Experience: list the simulation as a real entry — "Accounting Simulation Project — Skarion Engineering (2026)" with 5 quantified bullets.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Skills: Accounts Payable, Accounts Receivable, Bank Reconciliation, Month-End Close, General Ledger, GAAP, Accrual Accounting, Microsoft Excel, QuickBooks Online.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Featured: link a one-page summary/PDF of your simulation work.</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74 — PRE-INTERVIEW RESEARCH</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Research the Company in 20 Minutes (framework)</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Industry (manufacturing, services, healthcare, tech) — how does accounting differ in their context?</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Size (headcount, revenue if public) — team of 2 or a department of 40?</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Recent news (Google "company name news 2025") — raised capital, acquired someone, layoffs, won a contract?</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Glassdoor reviews — what do current/former employees say about the accounting team culture?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Fiscal year-end — December or non-December? Non-December close means you won't be slammed during the holidays.</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24</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8 STAR Behavioral Answers — Technical Situations (Skarion)</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Q1: Tell me about a time you found an error in the financial records.</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 During Skarion's January bank rec, the GL showed $34,000 more cash than the bank statement. T: Find and correct the source before close. A: Compared deposits line by line — found a $10,547.10 Southeast Broadband ACH entered twice. Confirmed the bank received it once, posted Dr AR $10,547.10 / Cr Cash $10,547.10. R: Rec balanced to $336,250.00; AR reinstated correctly, Sales Revenue never touched.</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Q2: Describe a time you met a strict deadline under pressure.</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 Skarion's January close — 5-day window, 12 adjusting entries, statements due Day 5. T: Owned the offshore accrual, Vetro amortization, and loan interest entries. A: Built a checklist tied to the close calendar, worked entries in dependency order, flagged a missing vendor invoice on Day 2. R: All three entries correct by Day 3; package delivered Day 5 with zero open items; net income $242,000.</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Q3: Tell me about a time you identified a process improvement.</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 Offshore vendor invoices were matched to POs manually — bottleneck and mismatches. T: Speed up matching without losing accuracy. A: Built a VLOOKUP tool that pulls the approved PO unit price next to each invoice line; rows where invoice price &gt; PO price highlight red. R: First batch caught a $178.75 GCS overbilling that would have passed unseen; tool adopted for every monthly batch.</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Q4: Give an example of working with incomplete information.</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 A $190,000 wire arrived with no remittance advice and no reference. T: Apply it to the correct invoices without an unapplied balance. A: Contacted the client's AP directly, identified the two most likely invoices from the aging, waited for written remittance — confirmed my read. R: Applied correctly within 48 hours, fully documented; led to a 'unidentified wire &gt; $5,000 → remittance request within 2 hours' standard process.</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Q5: Tell me about explaining a financial concept to a non-finance person.</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 A PM asked why January's P&amp;L showed high expenses though we'd paid vendors in December. T: Explain accrual without condescension. A: "If you hire a contractor in December and they finish in January, the expense belongs in January — when the work happened." Showed the December payment vs January expense recognition side by side. R: They understood; PM now flags large accruals before close to plan headcount conversations.</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Q6: Describe pushing back on an instruction you thought was wrong.</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 During a quarterly close my manager suggested rounding up a $340 rec difference because the audit was next morning. T: Push back without confrontation. A: "Can I have 20 minutes to trace it? If I can't, I'll document the unresolved item with an explanation — that gives us a clean paper trail either way." R: Found it in 12 minutes — a transposition; corrected; audit clean. Manager appreciated the path forward, not just a no.</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25</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8 STAR Behavioral Answers — Soft Skills &amp; Ethics</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Q9: Describe a mistake at work and how you handled it.</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Posted a depreciation entry to 6500 Software instead of 6700 Depreciation. Caught it at trial-balance review. Self-reported to the controller immediately, reversed and reposted correctly with documentation. Lesson: verify account numbers against the COA before posting, not after.</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Q10: Tell me about a time you maintained confidentiality.</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Payroll and vendor contract terms are strictly confidential. In training I treated every Skarion figure with the same care as real client data — no screenshots, no discussion outside context, files protected. This was an assumption I came in with, not something I waited to be taught.</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Q11: How do you handle a teammate not pulling their weight?</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Sequence: clarify whether they're aware of the issue, document what isn't happening, then flag to a manager only if a deliverable is at risk. Never silently absorb their work without raising it — that hides the problem and threatens your own deliverables.</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Q12: Tell me about meeting a high standard of accuracy.</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Every entry in this course balanced to the cent. Walk through the January rec — exact $336,250.00 balance. The detail interviewers want: how you self-verify — does the trial balance balance? Does the AR subledger tie to the GL control account? Those checks are the accuracy habit, not just 'I'm careful.'</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Q13: A vendor offers lunch to approve their invoice faster. What do you do?</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Thank them, decline. Explain invoice processing follows a fixed schedule (3-way match → approval → payment run) and the offer can't change it. Document the interaction in writing as a matter of record. Never let a personal relationship accelerate the payment cycle.</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Q14: Describe delivering bad news to a manager.</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The February close scenario (7 seeded errors). The skill is communicating each finding clearly — root cause, fix, status — not dumping the list. "Here are the 7 I found, here's the entry that fixes each, here's the one that needs your sign-off." Lead with the resolution, not the alarm.</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26</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20 Real Technical Interview Questions (answered fully)</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Walk me through the accounting cycle.</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8 steps: Source document → Journal entry → Post to GL → Trial balance → Adjusting entries → Adjusted trial balance → Financial statements → Close temporary accounts. Each exists because skipping it breaks accuracy or completeness — the trial balance doesn't prove correctness, only that debits = credits.</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Difference between the income statement and the balance sheet?</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Temporary vs. permanent accounts. The income statement is a movie (performance over a period); the balance sheet is a photo (position at a point in time). One closes to Retained Earnings; the other carries forward.</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If cash increases, what else changes?</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Depends on the reason. Customer payment → AR decreases. Borrowing → Loan Payable increases. Owner investment → Equity increases. Never answer in isolation — name the paired account and the direction.</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What is goodwill and when does it appear?</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Only on the balance sheet after a business acquisition — the excess of purchase price over the fair value of net identifiable assets. It cannot be internally generated.</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record a prepaid expense?</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Debit Prepaid (Asset), Credit Cash. Then monthly: Debit Expense, Credit Prepaid as the benefit is consumed. Skarion's $36,000 Vetro license = $3,000/month.</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What is EBITDA?</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Earnings Before Interest, Taxes, Depreciation, and Amortization. A common metric for comparing operating performance across companies with different capital structures or asset bases.</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27</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71 — FIRM-SPECIFIC</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Real Firm Questions — Big 4 vs. Mid-Size vs. Industry</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2674620"/>
                <a:gridCol w="2674620"/>
                <a:gridCol w="2674620"/>
                <a:gridCol w="26746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Firm type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Primary filter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Common opener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they're really asking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Big 4 (Deloitte, EY, KPMG, PwC)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Culture fit + learning agility + leadership</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"Tell me about a time you showed leadership."</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Can you manage up, manage peers, thrive in a structured hierarchy?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Regional (RSM, GT, BDO)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Technical readiness + client communication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"How do you explain a complex issue to a non-finance person?"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Will you represent the firm well to clients immediately?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Industry (corporate/manufacturing)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Close cycle ownership + systems proficiency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"What does your month-end close process look like?"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Can you own tasks with minimal supervision from day 1?</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Startup / fast-growth</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Generalist skills + comfort with ambiguity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"How do you build a process when there isn't one?"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Will you create structure, not just follow it?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28</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6 Questions From Real Firms (Glassdoor/Reddit 2024)</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Big 4 — Deloitte: "Give me an example of managing a project where you didn't have all the information you needed."</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Use the unidentified Southeast Broadband wire (no remittance, no reference). Context: $190,000 received blind. Action: contacted the client's AP, identified likely invoices from aging, waited for written remittance, applied and documented. Result: applied correctly in 48 hours; set a standard process for blind wires &gt; $5,000.</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EY: "Describe a time you had to quickly learn something completely new. How did you approach it?"</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Use the SkarionBooks/new-system story from Q8. Reviewed the COA structure, ran one small vendor entry end-to-end first, built a personal reference card of entry workflows. Result: full January close with no re-entries. Shows deliberate ramp-up, not luck.</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RSM (technical): "If I give you a trial balance with a $7,500 imbalance, where do you start?"</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Divide by 2 first — $3,750, see if it matches an account balance (a posting to the wrong side). Then check divisibility by 9 (a transposition indicator). Then sort transactions by amount and scan for the exact $7,500 figure. Methodical, not panicked.</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Grant Thornton (scenario): "A client calls Friday — their bank needs audited financials by Monday or no credit line. What do you do?"</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 staff accountant doesn't commit to audit timelines. Gather information, escalate to the manager immediately, and prepare whatever supporting documentation is requested. Set expectations honestly — never promise what you can't deliver, especially under deadline pressure.</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Industry (mid-size manufacturer): "What's the first thing you do when you get a new invoice?"</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Check for 3-way match: does the PO exist? Does the receiving report confirm delivery? Do amount and description match? Only then does it get entered. Walk them through the Dominion Aluminum DAF-2601-014 example where PO and invoice diverged.</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Startup: "We don't have a month-end close process. How would you build one?"</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Start with the balance-sheet reconciliations (cash, AR, AP) because those accounts compound errors fastest. Add depreciation and accruals, run the trial balance, then build a close checklist others can follow. Document the reason for each entry, not just the entry itself.</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32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Mock Interview — Full-Length Simulation (with rubric)</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A 30-minute mock interview with a study partner, mentor, or (alone) a self-recording. Download the interview pack below: 5 questions for the interviewer (one per category — technical, behavioral, scenario, software, "why accounting"), each with a scoring rubric on Accuracy, Specificity, Workflow, Judgment, and Communication (1–5 each). After the interview, fill in the self-assessment sheet — what landed, what felt weak, what to re-practice.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If you have no partner: record yourself on your phone. Watch it back. Count the filler words ("um," "basically," "kind of"). More than 3 in any 60-second answer = you need another take.</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Mock Interview Pack (questions + rubric).docx</a:t>
            </a:r>
            <a:endParaRPr lang="en-US" sz="1100" dirty="0"/>
          </a:p>
        </p:txBody>
      </p:sp>
      <p:sp>
        <p:nvSpPr>
          <p:cNvPr id="10" name="Shape 8"/>
          <p:cNvSpPr/>
          <p:nvPr/>
        </p:nvSpPr>
        <p:spPr>
          <a:xfrm>
            <a:off x="7635240" y="4846320"/>
            <a:ext cx="3794760" cy="1417320"/>
          </a:xfrm>
          <a:prstGeom prst="roundRect">
            <a:avLst>
              <a:gd name="adj" fmla="val 6452"/>
            </a:avLst>
          </a:prstGeom>
          <a:solidFill>
            <a:srgbClr val="141B49"/>
          </a:solidFill>
          <a:ln/>
        </p:spPr>
      </p:sp>
      <p:sp>
        <p:nvSpPr>
          <p:cNvPr id="11" name="Text 9"/>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2" name="Text 10"/>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Paste the 5 chosen questions and your scores per rubric criterion. Which criterion scored lowest — Accuracy, Specificity, Workflow, Judgment, or Communication? Re-practice that category this week.</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33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Portfolio Assembly Guide &amp; Checklist (14 items)</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Simulation summary document (1 page, PDF)</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Q1 Controller's Memo (from the capstone)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Bank reconciliation screenshot (January, balanced to $336,250.00)</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Q1 P&amp;L PDF</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STAR answer document (8 questions written out with real numbers)</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Portfolio_Summary_Template.docx</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Controllers_Memo_Template.docx</a:t>
            </a:r>
            <a:endParaRPr lang="en-US" sz="1100" dirty="0"/>
          </a:p>
        </p:txBody>
      </p:sp>
      <p:sp>
        <p:nvSpPr>
          <p:cNvPr id="12" name="Shape 10"/>
          <p:cNvSpPr/>
          <p:nvPr/>
        </p:nvSpPr>
        <p:spPr>
          <a:xfrm>
            <a:off x="7635240" y="3291840"/>
            <a:ext cx="3794760" cy="594360"/>
          </a:xfrm>
          <a:prstGeom prst="roundRect">
            <a:avLst>
              <a:gd name="adj" fmla="val 49231"/>
            </a:avLst>
          </a:prstGeom>
          <a:solidFill>
            <a:srgbClr val="1E2761"/>
          </a:solidFill>
          <a:ln/>
        </p:spPr>
      </p:sp>
      <p:sp>
        <p:nvSpPr>
          <p:cNvPr id="13" name="Text 11"/>
          <p:cNvSpPr/>
          <p:nvPr/>
        </p:nvSpPr>
        <p:spPr>
          <a:xfrm>
            <a:off x="7818120" y="329184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STAR_Answer_Worksheet.docx</a:t>
            </a:r>
            <a:endParaRPr lang="en-US" sz="1100" dirty="0"/>
          </a:p>
        </p:txBody>
      </p:sp>
      <p:sp>
        <p:nvSpPr>
          <p:cNvPr id="14" name="Shape 12"/>
          <p:cNvSpPr/>
          <p:nvPr/>
        </p:nvSpPr>
        <p:spPr>
          <a:xfrm>
            <a:off x="7635240" y="4069080"/>
            <a:ext cx="3794760" cy="594360"/>
          </a:xfrm>
          <a:prstGeom prst="roundRect">
            <a:avLst>
              <a:gd name="adj" fmla="val 49231"/>
            </a:avLst>
          </a:prstGeom>
          <a:solidFill>
            <a:srgbClr val="1E2761"/>
          </a:solidFill>
          <a:ln/>
        </p:spPr>
      </p:sp>
      <p:sp>
        <p:nvSpPr>
          <p:cNvPr id="15" name="Text 13"/>
          <p:cNvSpPr/>
          <p:nvPr/>
        </p:nvSpPr>
        <p:spPr>
          <a:xfrm>
            <a:off x="7818120" y="406908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Resume_Bullet_Rewrite_Template.docx</a:t>
            </a:r>
            <a:endParaRPr lang="en-US" sz="1100" dirty="0"/>
          </a:p>
        </p:txBody>
      </p:sp>
      <p:sp>
        <p:nvSpPr>
          <p:cNvPr id="16" name="Shape 14"/>
          <p:cNvSpPr/>
          <p:nvPr/>
        </p:nvSpPr>
        <p:spPr>
          <a:xfrm>
            <a:off x="7635240" y="4846320"/>
            <a:ext cx="3794760" cy="1417320"/>
          </a:xfrm>
          <a:prstGeom prst="roundRect">
            <a:avLst>
              <a:gd name="adj" fmla="val 6452"/>
            </a:avLst>
          </a:prstGeom>
          <a:solidFill>
            <a:srgbClr val="141B49"/>
          </a:solidFill>
          <a:ln/>
        </p:spPr>
      </p:sp>
      <p:sp>
        <p:nvSpPr>
          <p:cNvPr id="17" name="Text 15"/>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8" name="Text 16"/>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Which of the 14 items are you missing? Write your plan to complete each one by your target application date. The one sentence that kills interviews: "I don't have anything to show you yet." You do — it's this course. Present it like the work it is.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34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60 — THE FIRST 30 DAYS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First 30 Days on the Job — A Playbook</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Most new accounting hires fail not because of technical gaps but because they mismanage the first 30 days. This is the concrete playbook.</a:t>
            </a:r>
            <a:endParaRPr lang="en-US" sz="1500" dirty="0"/>
          </a:p>
        </p:txBody>
      </p:sp>
      <p:sp>
        <p:nvSpPr>
          <p:cNvPr id="7" name="Shape 5"/>
          <p:cNvSpPr/>
          <p:nvPr/>
        </p:nvSpPr>
        <p:spPr>
          <a:xfrm>
            <a:off x="7406640" y="1874520"/>
            <a:ext cx="4023360" cy="3566160"/>
          </a:xfrm>
          <a:prstGeom prst="roundRect">
            <a:avLst>
              <a:gd name="adj" fmla="val 2564"/>
            </a:avLst>
          </a:prstGeom>
          <a:solidFill>
            <a:srgbClr val="FBEAEA"/>
          </a:solidFill>
          <a:ln/>
        </p:spPr>
      </p:sp>
      <p:sp>
        <p:nvSpPr>
          <p:cNvPr id="8" name="Shape 6"/>
          <p:cNvSpPr/>
          <p:nvPr/>
        </p:nvSpPr>
        <p:spPr>
          <a:xfrm>
            <a:off x="7680960" y="2148840"/>
            <a:ext cx="365760" cy="365760"/>
          </a:xfrm>
          <a:prstGeom prst="ellipse">
            <a:avLst/>
          </a:prstGeom>
          <a:solidFill>
            <a:srgbClr val="B23B3B"/>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B23B3B"/>
                </a:solidFill>
                <a:latin typeface="Calibri" pitchFamily="34" charset="0"/>
                <a:ea typeface="Calibri" pitchFamily="34" charset="-122"/>
                <a:cs typeface="Calibri" pitchFamily="34" charset="-120"/>
              </a:rPr>
              <a:t>DANGER</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The three rules of the first 30 days: 1) Never post without documentation. Not one entry. 2) Ask questions before the deadline, not after. 3) The close is a team sport — your error affects everyone's night.</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36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Download your "My First 30 Days" checklist</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Download the fillable checklist below. It mirrors the timeline above and adds space for the company-specific questions to ask at each stage: who approves payments? what's the close calendar? what system do you use? what reports does the controller want first? Fill it in during your first week — and re-read it every Friday.</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My First 30 Days Checklist.docx</a:t>
            </a:r>
            <a:endParaRPr lang="en-US" sz="1100" dirty="0"/>
          </a:p>
        </p:txBody>
      </p:sp>
      <p:sp>
        <p:nvSpPr>
          <p:cNvPr id="10" name="Shape 8"/>
          <p:cNvSpPr/>
          <p:nvPr/>
        </p:nvSpPr>
        <p:spPr>
          <a:xfrm>
            <a:off x="7635240" y="4846320"/>
            <a:ext cx="3794760" cy="1417320"/>
          </a:xfrm>
          <a:prstGeom prst="roundRect">
            <a:avLst>
              <a:gd name="adj" fmla="val 6452"/>
            </a:avLst>
          </a:prstGeom>
          <a:solidFill>
            <a:srgbClr val="141B49"/>
          </a:solidFill>
          <a:ln/>
        </p:spPr>
      </p:sp>
      <p:sp>
        <p:nvSpPr>
          <p:cNvPr id="11" name="Text 9"/>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2" name="Text 10"/>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Write out the three rules and the single most important question to ask your manager in your first week. Then close this course — you're ready.</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Final Course Assessment — 30 Questions Across All 9 Modules</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Under accrual accounting, Skarion delivers an HLD on Jan 28 and is paid March 15. When is revenue recognized?</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The normal balance of Accumulated Depreciation is:</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Skarion's $500K loan at 6.5% — January interest accrual?</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39</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89 — AFTER THE JOB</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Happens After You Get the Job</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You document everything. Every entry has a ticket or email chain. Every adjustment has a supervisor sign-off. You never post without paper.</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You ask before the deadline, not after. Something doesn't make sense and you're 6 hours from the trial-balance run? Raise it now, not at 11 PM.</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You build systems, not just process tasks. Don't just do the bank rec — build the template so anyone could do it from your notes. That's what gets you from staff to senior.</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09</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Interview Preparation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Preparation</dc:title>
  <dc:subject>PptxGenJS Presentation</dc:subject>
  <dc:creator>Skarion Accounting Track</dc:creator>
  <cp:lastModifiedBy>Skarion Accounting Track</cp:lastModifiedBy>
  <cp:revision>1</cp:revision>
  <dcterms:created xsi:type="dcterms:W3CDTF">2026-07-16T04:11:38Z</dcterms:created>
  <dcterms:modified xsi:type="dcterms:W3CDTF">2026-07-16T04:11:38Z</dcterms:modified>
</cp:coreProperties>
</file>