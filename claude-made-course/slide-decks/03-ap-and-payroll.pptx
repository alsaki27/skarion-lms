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645920"/>
            <a:ext cx="4572000" cy="4572000"/>
          </a:xfrm>
          <a:prstGeom prst="ellipse">
            <a:avLst/>
          </a:prstGeom>
          <a:solidFill>
            <a:srgbClr val="141B49"/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754880"/>
            <a:ext cx="3200400" cy="3200400"/>
          </a:xfrm>
          <a:prstGeom prst="ellipse">
            <a:avLst/>
          </a:prstGeom>
          <a:solidFill>
            <a:srgbClr val="141B49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4630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03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1920240"/>
            <a:ext cx="102412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Accounts Payable &amp; Payroll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31520" y="3429000"/>
            <a:ext cx="9601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largest cash outflows in any services firm — vendor invoices and payroll — and the controls that stop them from bleeding money through errors and fraud.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4663440"/>
            <a:ext cx="3291840" cy="457200"/>
          </a:xfrm>
          <a:prstGeom prst="roundRect">
            <a:avLst>
              <a:gd name="adj" fmla="val 50000"/>
            </a:avLst>
          </a:prstGeom>
          <a:solidFill>
            <a:srgbClr val="141B49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46634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63093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SKARION ACCOUNTING TRACK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F3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02920" cy="50292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★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280160" y="1463040"/>
            <a:ext cx="9601200" cy="36576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80808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737360" y="182880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737360" y="2286000"/>
            <a:ext cx="86868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2200" i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"How do you process a vendor invoice?" Most candidates describe data entry. The right answer describes the three-way match, the hold-for-discrepancy process, and exactly which accounts move and when. This is the module that separates those two answers.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03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02920" cy="50292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34440" y="53035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CYCLE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91440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 workflow and the 3-way match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31520" y="1874520"/>
            <a:ext cx="640080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 issuance — a purchase order is created and approved before the vendor is engaged.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invoice received — the bill arrives, and is routed to AP.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3-way match — AP compares the Purchase Order , the Receiving Report (or delivery confirmation), and the Vendor Invoice . All three must agree on quantity, unit price, and total.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— the responsible PM or budget owner signs off.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— released on the scheduled payment run according to terms.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406640" y="1874520"/>
            <a:ext cx="4023360" cy="3566160"/>
          </a:xfrm>
          <a:prstGeom prst="roundRect">
            <a:avLst>
              <a:gd name="adj" fmla="val 2564"/>
            </a:avLst>
          </a:prstGeom>
          <a:solidFill>
            <a:srgbClr val="FBEAEA"/>
          </a:solidFill>
          <a:ln/>
        </p:spPr>
      </p:sp>
      <p:sp>
        <p:nvSpPr>
          <p:cNvPr id="8" name="Shape 6"/>
          <p:cNvSpPr/>
          <p:nvPr/>
        </p:nvSpPr>
        <p:spPr>
          <a:xfrm>
            <a:off x="7680960" y="2148840"/>
            <a:ext cx="365760" cy="365760"/>
          </a:xfrm>
          <a:prstGeom prst="ellipse">
            <a:avLst/>
          </a:prstGeom>
          <a:solidFill>
            <a:srgbClr val="B23B3B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0" y="21488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B2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DANGER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680960" y="2606040"/>
            <a:ext cx="356616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scenario. Global CAD Solutions invoice GCS-2026-087 billed $42.00 per drafted mile, but the master services agreement (MSA) states $38.50 per mile. On 50 miles that is a $178.75 variance. Do you pay it? No. Hold it, raise a dispute, and request a credit memo for the difference. Document everything.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02920" cy="50292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34440" y="53035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METHOD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91440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the liability is recorded — and the payment run</a:t>
            </a:r>
            <a:endParaRPr lang="en-US" sz="2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874520"/>
          <a:ext cx="640080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32004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Bucket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tells you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0–30 days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 terms — normal. The bulk of a healthy AP sits here.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31–60 days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Approaching terms limit — review vendor-by-vendor.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61–90 days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Late. Vendor relationships and early-pay discounts are at risk.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90+ days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Delinquent. Possible late fees, supplier credit holds, and a cash-flow red flag the controller will ask about.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7406640" y="1874520"/>
            <a:ext cx="4023360" cy="3566160"/>
          </a:xfrm>
          <a:prstGeom prst="roundRect">
            <a:avLst>
              <a:gd name="adj" fmla="val 2564"/>
            </a:avLst>
          </a:prstGeom>
          <a:solidFill>
            <a:srgbClr val="FFF7E8"/>
          </a:solidFill>
          <a:ln/>
        </p:spPr>
      </p:sp>
      <p:sp>
        <p:nvSpPr>
          <p:cNvPr id="8" name="Shape 5"/>
          <p:cNvSpPr/>
          <p:nvPr/>
        </p:nvSpPr>
        <p:spPr>
          <a:xfrm>
            <a:off x="7680960" y="2148840"/>
            <a:ext cx="365760" cy="36576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9" name="Text 6"/>
          <p:cNvSpPr/>
          <p:nvPr/>
        </p:nvSpPr>
        <p:spPr>
          <a:xfrm>
            <a:off x="8229600" y="21488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7680960" y="2606040"/>
            <a:ext cx="356616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payment discounts — 2/10 Net 30. "2/10 Net 30" means a 2% discount if paid within 10 days, otherwise full amount due in 30. On a $10,000 invoice that is a $200 saving for paying 20 days early — an implied ~36% annual return. Capturing it deliberately is a real cash management decision a controller will ask you to justify.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02920" cy="50292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34440" y="53035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PRACTICE: JOURNAL ENTRY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9144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Record a vendor invoice on receipt (no cash yet)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31520" y="1691640"/>
            <a:ext cx="10698480" cy="1051560"/>
          </a:xfrm>
          <a:prstGeom prst="roundRect">
            <a:avLst>
              <a:gd name="adj" fmla="val 6957"/>
            </a:avLst>
          </a:prstGeom>
          <a:solidFill>
            <a:srgbClr val="EEF3FC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810512"/>
            <a:ext cx="10149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CAD Solutions sends invoice GCS-2026-091 for $9,625 of offshore LLD drafting on the Tennessee Corridor build. Terms are Net-30. No cash has moved — record the liability now in the correct period.</a:t>
            </a:r>
            <a:endParaRPr lang="en-US" sz="12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463040" y="3063240"/>
          <a:ext cx="7315200" cy="914400"/>
        </p:xfrm>
        <a:graphic>
          <a:graphicData uri="http://schemas.openxmlformats.org/drawingml/2006/table">
            <a:tbl>
              <a:tblPr/>
              <a:tblGrid>
                <a:gridCol w="4023360"/>
                <a:gridCol w="1645920"/>
                <a:gridCol w="16459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Account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Debit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Credit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5100 - COGS — Subcontractor Drafting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$9625.00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2000 - Accounts Payable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$9625.00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731520" y="6309360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key — hidden from students in the interactive version until they submit their own entry.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02920" cy="50292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34440" y="53035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PRACTICE: JOURNAL ENTRY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9144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Process the payment, including the wire fee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31520" y="1691640"/>
            <a:ext cx="10698480" cy="1051560"/>
          </a:xfrm>
          <a:prstGeom prst="roundRect">
            <a:avLst>
              <a:gd name="adj" fmla="val 6957"/>
            </a:avLst>
          </a:prstGeom>
          <a:solidFill>
            <a:srgbClr val="EEF3FC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810512"/>
            <a:ext cx="10149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days later you wire payment of $9,625 to Global CAD for invoice GCS-2026-091. The bank charges a $25 outgoing wire fee in addition. Record the payment clearing the AP and the fee hitting expense.</a:t>
            </a:r>
            <a:endParaRPr lang="en-US" sz="12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463040" y="3063240"/>
          <a:ext cx="7315200" cy="914400"/>
        </p:xfrm>
        <a:graphic>
          <a:graphicData uri="http://schemas.openxmlformats.org/drawingml/2006/table">
            <a:tbl>
              <a:tblPr/>
              <a:tblGrid>
                <a:gridCol w="4023360"/>
                <a:gridCol w="1645920"/>
                <a:gridCol w="16459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Account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Debit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Credit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2000 - Accounts Payable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$9625.00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6900 - Bank Fees Expense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$25.00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1000 - Operating Checking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$9650.00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731520" y="6309360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key — hidden from students in the interactive version until they submit their own entry.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02920" cy="50292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34440" y="53035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LEGAL LINE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91440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W2 employees vs. 1099 contractors — and why accounting cares</a:t>
            </a:r>
            <a:endParaRPr lang="en-US" sz="2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874520"/>
          <a:ext cx="10698480" cy="914400"/>
        </p:xfrm>
        <a:graphic>
          <a:graphicData uri="http://schemas.openxmlformats.org/drawingml/2006/table">
            <a:tbl>
              <a:tblPr/>
              <a:tblGrid>
                <a:gridCol w="5349240"/>
                <a:gridCol w="53492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W2 Employee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1099 Contractor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 US payroll; Skarion withholds income tax, Social Security, and Medicare.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Self-employed; Skarion pays a flat invoice and the contractor handles their own taxes.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Creates payroll tax liabilities — employer FICA, FUTA, SUTA.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Routed straight through Accounts Payable as a vendor invoice.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Skarion's 10 US Engineering Project Managers.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Offshore drafting firms like Global CAD Solutions.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03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02920" cy="50292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34440" y="53035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PRACTICE: JOURNAL ENTRY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9144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Record the full US payroll run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31520" y="1691640"/>
            <a:ext cx="10698480" cy="1051560"/>
          </a:xfrm>
          <a:prstGeom prst="roundRect">
            <a:avLst>
              <a:gd name="adj" fmla="val 6957"/>
            </a:avLst>
          </a:prstGeom>
          <a:solidFill>
            <a:srgbClr val="EEF3FC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810512"/>
            <a:ext cx="10149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January's US payroll. Gross wages: $79,167. Employee withholdings: federal income tax $15,000, Social Security $4,908, Medicare $1,148 — total $21,056 withheld . Employer taxes add $6,256 (the company's own expense). Net pay of $58,111 is wired to employees. Record the gross wage expense, the employer tax expense, the cash out, and the liabilities owed to the government.</a:t>
            </a:r>
            <a:endParaRPr lang="en-US" sz="12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463040" y="3063240"/>
          <a:ext cx="7315200" cy="914400"/>
        </p:xfrm>
        <a:graphic>
          <a:graphicData uri="http://schemas.openxmlformats.org/drawingml/2006/table">
            <a:tbl>
              <a:tblPr/>
              <a:tblGrid>
                <a:gridCol w="4023360"/>
                <a:gridCol w="1645920"/>
                <a:gridCol w="16459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Account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Debit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Credit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6000 - Salaries — US Engineering PMs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$79167.00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6100 - Payroll Tax Expense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$6256.00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2200 - Payroll Tax Liabilities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$27312.00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1000 - Operating Checking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$58111.00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731520" y="6309360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key — hidden from students in the interactive version until they submit their own entry.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02920" cy="50292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34440" y="53035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ACCRUAL MECHANICS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91440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Accruals, prepaids, and reversals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31520" y="1874520"/>
            <a:ext cx="1069848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of the most common interview questions live here, and they are all consequences of the accrual principle: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Accruals. Record an expense before the invoice arrives. Skarion's offshore team completes $12,400 of drafting in January; the invoice does not land until February 5th. The work happened in January, so the expense belongs in January. The January 31st entry: Debit COGS — Subcontractor Drafting $12,400 / Credit Accrued Liabilities $12,400.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Reversals. On February 1st you reverse the accrual (Debit Accrued Liabilities / Credit COGS), so that when the real invoice is entered on February 5th the net effect is exactly one expense, in one period — not double-counted.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Prepaids. Cash paid now, expensed later through an amortization schedule. The $36,000 Vetro license paid July 1st is a $3,000/month expense. Each month: Debit Software Expense $3,000 / Credit Prepaid Software $3,000. This is the single most common adjusting entry you will post at month-end.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03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02920" cy="50292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34440" y="5029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 and payroll vocabulary — know these cold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1417320"/>
            <a:ext cx="3520440" cy="1874520"/>
          </a:xfrm>
          <a:prstGeom prst="roundRect">
            <a:avLst>
              <a:gd name="adj" fmla="val 4390"/>
            </a:avLst>
          </a:prstGeom>
          <a:solidFill>
            <a:srgbClr val="EEF3FC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1581912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Accrual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960120" y="2130552"/>
            <a:ext cx="3063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Recording an expense in the period it was incurred, before the invoice arrives. Skarion accrues $12,400 of January offshore work invoiced in February so January's books are complete.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480560" y="1417320"/>
            <a:ext cx="3520440" cy="1874520"/>
          </a:xfrm>
          <a:prstGeom prst="roundRect">
            <a:avLst>
              <a:gd name="adj" fmla="val 4390"/>
            </a:avLst>
          </a:prstGeom>
          <a:solidFill>
            <a:srgbClr val="EEF3FC"/>
          </a:solidFill>
          <a:ln/>
        </p:spPr>
      </p:sp>
      <p:sp>
        <p:nvSpPr>
          <p:cNvPr id="9" name="Text 7"/>
          <p:cNvSpPr/>
          <p:nvPr/>
        </p:nvSpPr>
        <p:spPr>
          <a:xfrm>
            <a:off x="4709160" y="1581912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Reversal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4709160" y="2130552"/>
            <a:ext cx="3063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Undoing an accrual entry on the first day of the next period, so the real invoice doesn't double-count the expense. Debit Accrued Liabilities / Credit COGS on Feb 1 cancels the Jan 31 accrual.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8229600" y="1417320"/>
            <a:ext cx="3520440" cy="1874520"/>
          </a:xfrm>
          <a:prstGeom prst="roundRect">
            <a:avLst>
              <a:gd name="adj" fmla="val 4390"/>
            </a:avLst>
          </a:prstGeom>
          <a:solidFill>
            <a:srgbClr val="EEF3FC"/>
          </a:solidFill>
          <a:ln/>
        </p:spPr>
      </p:sp>
      <p:sp>
        <p:nvSpPr>
          <p:cNvPr id="12" name="Text 10"/>
          <p:cNvSpPr/>
          <p:nvPr/>
        </p:nvSpPr>
        <p:spPr>
          <a:xfrm>
            <a:off x="8458200" y="1581912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Prepaid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8458200" y="2130552"/>
            <a:ext cx="3063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paid now for a benefit that spans future periods — recorded as an asset and amortized to expense over time. The $36,000 Vetro license is prepaid, amortized $3,000/month.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31520" y="3520440"/>
            <a:ext cx="3520440" cy="1874520"/>
          </a:xfrm>
          <a:prstGeom prst="roundRect">
            <a:avLst>
              <a:gd name="adj" fmla="val 4390"/>
            </a:avLst>
          </a:prstGeom>
          <a:solidFill>
            <a:srgbClr val="EEF3FC"/>
          </a:solidFill>
          <a:ln/>
        </p:spPr>
      </p:sp>
      <p:sp>
        <p:nvSpPr>
          <p:cNvPr id="15" name="Text 13"/>
          <p:cNvSpPr/>
          <p:nvPr/>
        </p:nvSpPr>
        <p:spPr>
          <a:xfrm>
            <a:off x="960120" y="3685032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Amortization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960120" y="4233672"/>
            <a:ext cx="3063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systematic allocation of a prepaid asset to expense across benefited periods. Straight-line amortization of the 12-month Vetro license = $3,000/month for 12 months.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480560" y="3520440"/>
            <a:ext cx="3520440" cy="1874520"/>
          </a:xfrm>
          <a:prstGeom prst="roundRect">
            <a:avLst>
              <a:gd name="adj" fmla="val 4390"/>
            </a:avLst>
          </a:prstGeom>
          <a:solidFill>
            <a:srgbClr val="EEF3FC"/>
          </a:solidFill>
          <a:ln/>
        </p:spPr>
      </p:sp>
      <p:sp>
        <p:nvSpPr>
          <p:cNvPr id="18" name="Text 16"/>
          <p:cNvSpPr/>
          <p:nvPr/>
        </p:nvSpPr>
        <p:spPr>
          <a:xfrm>
            <a:off x="4709160" y="3685032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Accrued Wages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4709160" y="4233672"/>
            <a:ext cx="3063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Wages earned by employees but not yet paid at period-end. A month-end accrual captures the days worked before payday so the salary expense lands in the correct month.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03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41280" y="-1097280"/>
            <a:ext cx="3657600" cy="3657600"/>
          </a:xfrm>
          <a:prstGeom prst="ellipse">
            <a:avLst/>
          </a:prstGeom>
          <a:solidFill>
            <a:srgbClr val="141B4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502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SELF-CHECK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8686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Accruals, prepaids &amp; AP quiz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1783080"/>
            <a:ext cx="384048" cy="38404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7830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280160" y="1764792"/>
            <a:ext cx="9784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Skarion's offshore team completes $12,400 of drafting in January. The invoice arrives February 3rd. What is the January 31st entry?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" y="3200400"/>
            <a:ext cx="384048" cy="38404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32004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280160" y="3182112"/>
            <a:ext cx="9784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Skarion paid $36,000 for a 12-month Vetro license on July 1st, recorded as a prepaid. What is the balance of Prepaid Software Licenses on November 30th?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31520" y="4617720"/>
            <a:ext cx="384048" cy="38404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46177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280160" y="4599432"/>
            <a:ext cx="9784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employer's portion of FICA tax as a percentage of gross wages?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31520" y="63093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choices and full explanations are in the interactive lesson.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37760" y="914400"/>
            <a:ext cx="2286000" cy="228600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4937760" y="914400"/>
            <a:ext cx="22860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1645920" y="3566160"/>
            <a:ext cx="8869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 complete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645920" y="4206240"/>
            <a:ext cx="8869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Accounts Payable &amp; Payroll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Accounts Payable &amp; Payroll</dc:title>
  <dc:subject>PptxGenJS Presentation</dc:subject>
  <dc:creator>Skarion Accounting Track</dc:creator>
  <cp:lastModifiedBy>Skarion Accounting Track</cp:lastModifiedBy>
  <cp:revision>1</cp:revision>
  <dcterms:created xsi:type="dcterms:W3CDTF">2026-07-16T04:11:38Z</dcterms:created>
  <dcterms:modified xsi:type="dcterms:W3CDTF">2026-07-16T04:11:38Z</dcterms:modified>
</cp:coreProperties>
</file>