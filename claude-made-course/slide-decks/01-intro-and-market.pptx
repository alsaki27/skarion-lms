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141B49"/>
          </a:solidFill>
          <a:ln/>
        </p:spPr>
      </p:sp>
      <p:sp>
        <p:nvSpPr>
          <p:cNvPr id="3" name="Shape 1"/>
          <p:cNvSpPr/>
          <p:nvPr/>
        </p:nvSpPr>
        <p:spPr>
          <a:xfrm>
            <a:off x="-1371600" y="4754880"/>
            <a:ext cx="3200400" cy="3200400"/>
          </a:xfrm>
          <a:prstGeom prst="ellipse">
            <a:avLst/>
          </a:prstGeom>
          <a:solidFill>
            <a:srgbClr val="141B49"/>
          </a:solidFill>
          <a:ln/>
        </p:spPr>
      </p:sp>
      <p:sp>
        <p:nvSpPr>
          <p:cNvPr id="4" name="Text 2"/>
          <p:cNvSpPr/>
          <p:nvPr/>
        </p:nvSpPr>
        <p:spPr>
          <a:xfrm>
            <a:off x="731520" y="1463040"/>
            <a:ext cx="91440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MODULE 01</a:t>
            </a:r>
            <a:endParaRPr lang="en-US" sz="1300" dirty="0"/>
          </a:p>
        </p:txBody>
      </p:sp>
      <p:sp>
        <p:nvSpPr>
          <p:cNvPr id="5" name="Text 3"/>
          <p:cNvSpPr/>
          <p:nvPr/>
        </p:nvSpPr>
        <p:spPr>
          <a:xfrm>
            <a:off x="731520" y="1920240"/>
            <a:ext cx="10241280" cy="14630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The Accounting Profession — Reality vs. The Textbook</a:t>
            </a:r>
            <a:endParaRPr lang="en-US" sz="4000" dirty="0"/>
          </a:p>
        </p:txBody>
      </p:sp>
      <p:sp>
        <p:nvSpPr>
          <p:cNvPr id="6" name="Text 4"/>
          <p:cNvSpPr/>
          <p:nvPr/>
        </p:nvSpPr>
        <p:spPr>
          <a:xfrm>
            <a:off x="731520" y="3429000"/>
            <a:ext cx="9601200" cy="1005840"/>
          </a:xfrm>
          <a:prstGeom prst="rect">
            <a:avLst/>
          </a:prstGeom>
          <a:noFill/>
          <a:ln/>
        </p:spPr>
        <p:txBody>
          <a:bodyPr wrap="square" rtlCol="0" anchor="ctr"/>
          <a:lstStyle/>
          <a:p>
            <a:pPr indent="0" marL="0">
              <a:lnSpc>
                <a:spcPct val="130000"/>
              </a:lnSpc>
              <a:buNone/>
            </a:pPr>
            <a:r>
              <a:rPr lang="en-US" sz="1600" dirty="0">
                <a:solidFill>
                  <a:srgbClr val="CADCFC"/>
                </a:solidFill>
                <a:latin typeface="Calibri" pitchFamily="34" charset="0"/>
                <a:ea typeface="Calibri" pitchFamily="34" charset="-122"/>
                <a:cs typeface="Calibri" pitchFamily="34" charset="-120"/>
              </a:rPr>
              <a:t>What separates candidates who get hired from candidates who get generic rejections — and why the gap has nothing to do with GPA.</a:t>
            </a:r>
            <a:endParaRPr lang="en-US" sz="1600" dirty="0"/>
          </a:p>
        </p:txBody>
      </p:sp>
      <p:sp>
        <p:nvSpPr>
          <p:cNvPr id="7" name="Shape 5"/>
          <p:cNvSpPr/>
          <p:nvPr/>
        </p:nvSpPr>
        <p:spPr>
          <a:xfrm>
            <a:off x="731520" y="4663440"/>
            <a:ext cx="3291840" cy="457200"/>
          </a:xfrm>
          <a:prstGeom prst="roundRect">
            <a:avLst>
              <a:gd name="adj" fmla="val 50000"/>
            </a:avLst>
          </a:prstGeom>
          <a:solidFill>
            <a:srgbClr val="141B49"/>
          </a:solidFill>
          <a:ln w="12700">
            <a:solidFill>
              <a:srgbClr val="E8A33D"/>
            </a:solidFill>
            <a:prstDash val="solid"/>
          </a:ln>
        </p:spPr>
      </p:sp>
      <p:sp>
        <p:nvSpPr>
          <p:cNvPr id="8" name="Text 6"/>
          <p:cNvSpPr/>
          <p:nvPr/>
        </p:nvSpPr>
        <p:spPr>
          <a:xfrm>
            <a:off x="731520" y="4663440"/>
            <a:ext cx="3291840" cy="457200"/>
          </a:xfrm>
          <a:prstGeom prst="rect">
            <a:avLst/>
          </a:prstGeom>
          <a:noFill/>
          <a:ln/>
        </p:spPr>
        <p:txBody>
          <a:bodyPr wrap="square" rtlCol="0" anchor="ctr"/>
          <a:lstStyle/>
          <a:p>
            <a:pPr algn="ctr" indent="0" marL="0">
              <a:buNone/>
            </a:pPr>
            <a:r>
              <a:rPr lang="en-US" sz="1100" b="1" dirty="0">
                <a:solidFill>
                  <a:srgbClr val="CADCFC"/>
                </a:solidFill>
                <a:latin typeface="Calibri" pitchFamily="34" charset="0"/>
                <a:ea typeface="Calibri" pitchFamily="34" charset="-122"/>
                <a:cs typeface="Calibri" pitchFamily="34" charset="-120"/>
              </a:rPr>
              <a:t>Day 1</a:t>
            </a:r>
            <a:endParaRPr lang="en-US" sz="1100" dirty="0"/>
          </a:p>
        </p:txBody>
      </p:sp>
      <p:sp>
        <p:nvSpPr>
          <p:cNvPr id="9" name="Text 7"/>
          <p:cNvSpPr/>
          <p:nvPr/>
        </p:nvSpPr>
        <p:spPr>
          <a:xfrm>
            <a:off x="731520" y="6309360"/>
            <a:ext cx="7315200" cy="274320"/>
          </a:xfrm>
          <a:prstGeom prst="rect">
            <a:avLst/>
          </a:prstGeom>
          <a:noFill/>
          <a:ln/>
        </p:spPr>
        <p:txBody>
          <a:bodyPr wrap="square" rtlCol="0" anchor="ctr"/>
          <a:lstStyle/>
          <a:p>
            <a:pPr indent="0" marL="0">
              <a:buNone/>
            </a:pPr>
            <a:r>
              <a:rPr lang="en-US" sz="1000" spc="100" kern="0" dirty="0">
                <a:solidFill>
                  <a:srgbClr val="5B6472"/>
                </a:solidFill>
                <a:latin typeface="Calibri" pitchFamily="34" charset="0"/>
                <a:ea typeface="Calibri" pitchFamily="34" charset="-122"/>
                <a:cs typeface="Calibri" pitchFamily="34" charset="-120"/>
              </a:rPr>
              <a:t>SKARION ACCOUNTING TRACK</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F3FC"/>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a:t>
            </a:r>
            <a:endParaRPr lang="en-US" sz="1600" dirty="0"/>
          </a:p>
        </p:txBody>
      </p:sp>
      <p:sp>
        <p:nvSpPr>
          <p:cNvPr id="4" name="Shape 2"/>
          <p:cNvSpPr/>
          <p:nvPr/>
        </p:nvSpPr>
        <p:spPr>
          <a:xfrm>
            <a:off x="1280160" y="1463040"/>
            <a:ext cx="9601200" cy="3657600"/>
          </a:xfrm>
          <a:prstGeom prst="roundRect">
            <a:avLst>
              <a:gd name="adj" fmla="val 3000"/>
            </a:avLst>
          </a:prstGeom>
          <a:solidFill>
            <a:srgbClr val="FFFFFF"/>
          </a:solidFill>
          <a:ln/>
          <a:effectLst>
            <a:outerShdw sx="100000" sy="100000" kx="0" ky="0" algn="bl" rotWithShape="0" blurRad="152400" dist="50800" dir="5400000">
              <a:srgbClr val="808080">
                <a:alpha val="25000"/>
              </a:srgbClr>
            </a:outerShdw>
          </a:effectLst>
        </p:spPr>
      </p:sp>
      <p:sp>
        <p:nvSpPr>
          <p:cNvPr id="5" name="Text 3"/>
          <p:cNvSpPr/>
          <p:nvPr/>
        </p:nvSpPr>
        <p:spPr>
          <a:xfrm>
            <a:off x="1737360" y="1828800"/>
            <a:ext cx="86868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WHY THIS MATTERS</a:t>
            </a:r>
            <a:endParaRPr lang="en-US" sz="1200" dirty="0"/>
          </a:p>
        </p:txBody>
      </p:sp>
      <p:sp>
        <p:nvSpPr>
          <p:cNvPr id="6" name="Text 4"/>
          <p:cNvSpPr/>
          <p:nvPr/>
        </p:nvSpPr>
        <p:spPr>
          <a:xfrm>
            <a:off x="1737360" y="2286000"/>
            <a:ext cx="8686800" cy="2560320"/>
          </a:xfrm>
          <a:prstGeom prst="rect">
            <a:avLst/>
          </a:prstGeom>
          <a:noFill/>
          <a:ln/>
        </p:spPr>
        <p:txBody>
          <a:bodyPr wrap="square" rtlCol="0" anchor="ctr"/>
          <a:lstStyle/>
          <a:p>
            <a:pPr indent="0" marL="0">
              <a:lnSpc>
                <a:spcPct val="140000"/>
              </a:lnSpc>
              <a:buNone/>
            </a:pPr>
            <a:r>
              <a:rPr lang="en-US" sz="2200" i="1" dirty="0">
                <a:solidFill>
                  <a:srgbClr val="1E2761"/>
                </a:solidFill>
                <a:latin typeface="Cambria" pitchFamily="34" charset="0"/>
                <a:ea typeface="Cambria" pitchFamily="34" charset="-122"/>
                <a:cs typeface="Cambria" pitchFamily="34" charset="-120"/>
              </a:rPr>
              <a:t>"Tell me about yourself." You're about to hear what makes a candidate sound credible in the first 60 seconds — and what instantly flags them as a textbook memorizer who has never touched a real set of books.</a:t>
            </a:r>
            <a:endParaRPr lang="en-US" sz="2200" dirty="0"/>
          </a:p>
        </p:txBody>
      </p:sp>
      <p:sp>
        <p:nvSpPr>
          <p:cNvPr id="7" name="Text 5"/>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02</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REALITY</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accounting actually is — and why your professor probably wasn't clear about it</a:t>
            </a:r>
            <a:endParaRPr lang="en-US" sz="2600" dirty="0"/>
          </a:p>
        </p:txBody>
      </p:sp>
      <p:sp>
        <p:nvSpPr>
          <p:cNvPr id="6" name="Text 4"/>
          <p:cNvSpPr/>
          <p:nvPr/>
        </p:nvSpPr>
        <p:spPr>
          <a:xfrm>
            <a:off x="731520" y="1874520"/>
            <a:ext cx="6400800" cy="3931920"/>
          </a:xfrm>
          <a:prstGeom prst="rect">
            <a:avLst/>
          </a:prstGeom>
          <a:noFill/>
          <a:ln/>
        </p:spPr>
        <p:txBody>
          <a:bodyPr wrap="square" rtlCol="0" anchor="t"/>
          <a:lstStyle/>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 misclassified expense can cost a company millions in tax overpayments.</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An AR balance that isn't collected on time kills cash flow.</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 payroll entry that's off by one decimal point lands in an employment tribunal.</a:t>
            </a:r>
            <a:endParaRPr lang="en-US" sz="1500" dirty="0"/>
          </a:p>
          <a:p>
            <a:pPr marL="228600" indent="-228600">
              <a:spcAft>
                <a:spcPts val="1200"/>
              </a:spcAft>
              <a:buSzPct val="100000"/>
              <a:buChar char="▪"/>
            </a:pPr>
            <a:r>
              <a:rPr lang="en-US" sz="1500" dirty="0">
                <a:solidFill>
                  <a:srgbClr val="20242E"/>
                </a:solidFill>
                <a:latin typeface="Calibri" pitchFamily="34" charset="0"/>
                <a:ea typeface="Calibri" pitchFamily="34" charset="-122"/>
                <a:cs typeface="Calibri" pitchFamily="34" charset="-120"/>
              </a:rPr>
              <a:t>A bank reconciliation that isn't done properly is fraud waiting to happen.</a:t>
            </a:r>
            <a:endParaRPr lang="en-US" sz="1500" dirty="0"/>
          </a:p>
        </p:txBody>
      </p:sp>
      <p:sp>
        <p:nvSpPr>
          <p:cNvPr id="7" name="Shape 5"/>
          <p:cNvSpPr/>
          <p:nvPr/>
        </p:nvSpPr>
        <p:spPr>
          <a:xfrm>
            <a:off x="7406640" y="1874520"/>
            <a:ext cx="4023360" cy="3566160"/>
          </a:xfrm>
          <a:prstGeom prst="roundRect">
            <a:avLst>
              <a:gd name="adj" fmla="val 2564"/>
            </a:avLst>
          </a:prstGeom>
          <a:solidFill>
            <a:srgbClr val="FFF7E8"/>
          </a:solidFill>
          <a:ln/>
        </p:spPr>
      </p:sp>
      <p:sp>
        <p:nvSpPr>
          <p:cNvPr id="8" name="Shape 6"/>
          <p:cNvSpPr/>
          <p:nvPr/>
        </p:nvSpPr>
        <p:spPr>
          <a:xfrm>
            <a:off x="7680960" y="2148840"/>
            <a:ext cx="365760" cy="365760"/>
          </a:xfrm>
          <a:prstGeom prst="ellipse">
            <a:avLst/>
          </a:prstGeom>
          <a:solidFill>
            <a:srgbClr val="E8A33D"/>
          </a:solidFill>
          <a:ln/>
        </p:spPr>
      </p:sp>
      <p:sp>
        <p:nvSpPr>
          <p:cNvPr id="9" name="Text 7"/>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E8A33D"/>
                </a:solidFill>
                <a:latin typeface="Calibri" pitchFamily="34" charset="0"/>
                <a:ea typeface="Calibri" pitchFamily="34" charset="-122"/>
                <a:cs typeface="Calibri" pitchFamily="34" charset="-120"/>
              </a:rPr>
              <a:t>TIP</a:t>
            </a:r>
            <a:endParaRPr lang="en-US" sz="1000" dirty="0"/>
          </a:p>
        </p:txBody>
      </p:sp>
      <p:sp>
        <p:nvSpPr>
          <p:cNvPr id="10" name="Text 8"/>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The hiring manager's first filter: Do they understand what accounting is for ? Or do they just know how to record journal entries? The best answer to "Tell me about yourself" names the purpose of the function, not just the tasks.</a:t>
            </a:r>
            <a:endParaRPr lang="en-US" sz="1250" dirty="0"/>
          </a:p>
        </p:txBody>
      </p:sp>
      <p:sp>
        <p:nvSpPr>
          <p:cNvPr id="11" name="Text 9"/>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03</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FOUNDATION</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GAAP, accrual accounting, and why cash basis is almost always wrong for a real business</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10698480" cy="914400"/>
        </p:xfrm>
        <a:graphic>
          <a:graphicData uri="http://schemas.openxmlformats.org/drawingml/2006/table">
            <a:tbl>
              <a:tblPr/>
              <a:tblGrid>
                <a:gridCol w="3566160"/>
                <a:gridCol w="3566160"/>
                <a:gridCol w="356616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Scenario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Cash Basis records when...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Accrual Basis records when...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Client signs a contract and we deliver 300 miles of fiber design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Client wires the payment (often 60 days later)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We deliver the work and send the invoice (today)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We receive a vendor invoice for offshore drafting labor</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We cut the check or wire the payment</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We receive the invoice and the liability exists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We pay 12 months of software licenses upfront in January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The whole $48,000 hits expense in January</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$4,000/month is expensed over 12 months (Prepaid)</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bl>
          </a:graphicData>
        </a:graphic>
      </p:graphicFrame>
      <p:sp>
        <p:nvSpPr>
          <p:cNvPr id="7" name="Text 4"/>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05</a:t>
            </a:r>
            <a:endParaRPr lang="en-US" sz="1600" dirty="0"/>
          </a:p>
        </p:txBody>
      </p:sp>
      <p:sp>
        <p:nvSpPr>
          <p:cNvPr id="4" name="Text 2"/>
          <p:cNvSpPr/>
          <p:nvPr/>
        </p:nvSpPr>
        <p:spPr>
          <a:xfrm>
            <a:off x="1234440" y="530352"/>
            <a:ext cx="8229600" cy="320040"/>
          </a:xfrm>
          <a:prstGeom prst="rect">
            <a:avLst/>
          </a:prstGeom>
          <a:noFill/>
          <a:ln/>
        </p:spPr>
        <p:txBody>
          <a:bodyPr wrap="square" rtlCol="0" anchor="ctr"/>
          <a:lstStyle/>
          <a:p>
            <a:pPr indent="0" marL="0">
              <a:buNone/>
            </a:pPr>
            <a:r>
              <a:rPr lang="en-US" sz="1100" b="1" spc="200" kern="0" dirty="0">
                <a:solidFill>
                  <a:srgbClr val="E8A33D"/>
                </a:solidFill>
                <a:latin typeface="Calibri" pitchFamily="34" charset="0"/>
                <a:ea typeface="Calibri" pitchFamily="34" charset="-122"/>
                <a:cs typeface="Calibri" pitchFamily="34" charset="-120"/>
              </a:rPr>
              <a:t>THE FIRST 90 DAYS</a:t>
            </a:r>
            <a:endParaRPr lang="en-US" sz="1100" dirty="0"/>
          </a:p>
        </p:txBody>
      </p:sp>
      <p:sp>
        <p:nvSpPr>
          <p:cNvPr id="5" name="Text 3"/>
          <p:cNvSpPr/>
          <p:nvPr/>
        </p:nvSpPr>
        <p:spPr>
          <a:xfrm>
            <a:off x="731520" y="914400"/>
            <a:ext cx="10698480" cy="822960"/>
          </a:xfrm>
          <a:prstGeom prst="rect">
            <a:avLst/>
          </a:prstGeom>
          <a:noFill/>
          <a:ln/>
        </p:spPr>
        <p:txBody>
          <a:bodyPr wrap="square" rtlCol="0" anchor="ctr"/>
          <a:lstStyle/>
          <a:p>
            <a:pPr indent="0" marL="0">
              <a:buNone/>
            </a:pPr>
            <a:r>
              <a:rPr lang="en-US" sz="2600" b="1" dirty="0">
                <a:solidFill>
                  <a:srgbClr val="1E2761"/>
                </a:solidFill>
                <a:latin typeface="Cambria" pitchFamily="34" charset="0"/>
                <a:ea typeface="Cambria" pitchFamily="34" charset="-122"/>
                <a:cs typeface="Cambria" pitchFamily="34" charset="-120"/>
              </a:rPr>
              <a:t>What an entry-level accounting job actually looks like, week by week</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31520" y="1874520"/>
          <a:ext cx="6400800" cy="914400"/>
        </p:xfrm>
        <a:graphic>
          <a:graphicData uri="http://schemas.openxmlformats.org/drawingml/2006/table">
            <a:tbl>
              <a:tblPr/>
              <a:tblGrid>
                <a:gridCol w="2133600"/>
                <a:gridCol w="2133600"/>
                <a:gridCol w="2133600"/>
              </a:tblGrid>
              <a:tr h="0">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Week</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Focus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You will be expected to...</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1E2761"/>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Orientation &amp; shadow</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Understand the Chart of Accounts, read the accounting policies, shadow month-end close.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3–4</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AP processing</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Enter vendor invoices, match POs, flag discrepancies, process payment runs.</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5–8</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AR and cash</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Apply customer payments, chase overdue invoices, assist with bank reconciliation.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FFFFFF"/>
                    </a:solidFill>
                  </a:tcPr>
                </a:tc>
              </a:tr>
              <a:tr h="0">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9–12</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Month-end participation</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c>
                  <a:txBody>
                    <a:bodyPr/>
                    <a:lstStyle/>
                    <a:p>
                      <a:pPr indent="0" marL="0">
                        <a:buNone/>
                      </a:pPr>
                      <a:r>
                        <a:rPr lang="en-US" sz="1100" dirty="0">
                          <a:solidFill>
                            <a:srgbClr val="20242E"/>
                          </a:solidFill>
                          <a:latin typeface="Calibri" pitchFamily="34" charset="0"/>
                          <a:ea typeface="Calibri" pitchFamily="34" charset="-122"/>
                          <a:cs typeface="Calibri" pitchFamily="34" charset="-120"/>
                        </a:rPr>
                        <a:t>Post assigned journal entries (depreciation, prepaids, accruals), contribute to the reconciliation package.</a:t>
                      </a:r>
                      <a:endParaRPr lang="en-US" sz="1100" dirty="0">
                        <a:latin typeface="Calibri" charset="0"/>
                        <a:ea typeface="Calibri" charset="0"/>
                        <a:cs typeface="Calibri" charset="0"/>
                      </a:endParaRPr>
                    </a:p>
                  </a:txBody>
                  <a:tcPr marL="91440" marR="91440" marT="45720" marB="45720">
                    <a:lnL w="6350" cap="flat" cmpd="sng" algn="ctr">
                      <a:solidFill>
                        <a:srgbClr val="D8DEEA"/>
                      </a:solidFill>
                      <a:prstDash val="solid"/>
                      <a:round/>
                      <a:headEnd type="none" w="med" len="med"/>
                      <a:tailEnd type="none" w="med" len="med"/>
                    </a:lnL>
                    <a:lnR w="6350" cap="flat" cmpd="sng" algn="ctr">
                      <a:solidFill>
                        <a:srgbClr val="D8DEEA"/>
                      </a:solidFill>
                      <a:prstDash val="solid"/>
                      <a:round/>
                      <a:headEnd type="none" w="med" len="med"/>
                      <a:tailEnd type="none" w="med" len="med"/>
                    </a:lnR>
                    <a:lnT w="6350" cap="flat" cmpd="sng" algn="ctr">
                      <a:solidFill>
                        <a:srgbClr val="D8DEEA"/>
                      </a:solidFill>
                      <a:prstDash val="solid"/>
                      <a:round/>
                      <a:headEnd type="none" w="med" len="med"/>
                      <a:tailEnd type="none" w="med" len="med"/>
                    </a:lnT>
                    <a:lnB w="6350" cap="flat" cmpd="sng" algn="ctr">
                      <a:solidFill>
                        <a:srgbClr val="D8DEEA"/>
                      </a:solidFill>
                      <a:prstDash val="solid"/>
                      <a:round/>
                      <a:headEnd type="none" w="med" len="med"/>
                      <a:tailEnd type="none" w="med" len="med"/>
                    </a:lnB>
                    <a:solidFill>
                      <a:srgbClr val="EEF3FC"/>
                    </a:solidFill>
                  </a:tcPr>
                </a:tc>
              </a:tr>
            </a:tbl>
          </a:graphicData>
        </a:graphic>
      </p:graphicFrame>
      <p:sp>
        <p:nvSpPr>
          <p:cNvPr id="7" name="Shape 4"/>
          <p:cNvSpPr/>
          <p:nvPr/>
        </p:nvSpPr>
        <p:spPr>
          <a:xfrm>
            <a:off x="7406640" y="1874520"/>
            <a:ext cx="4023360" cy="3566160"/>
          </a:xfrm>
          <a:prstGeom prst="roundRect">
            <a:avLst>
              <a:gd name="adj" fmla="val 2564"/>
            </a:avLst>
          </a:prstGeom>
          <a:solidFill>
            <a:srgbClr val="FFF3DE"/>
          </a:solidFill>
          <a:ln/>
        </p:spPr>
      </p:sp>
      <p:sp>
        <p:nvSpPr>
          <p:cNvPr id="8" name="Shape 5"/>
          <p:cNvSpPr/>
          <p:nvPr/>
        </p:nvSpPr>
        <p:spPr>
          <a:xfrm>
            <a:off x="7680960" y="2148840"/>
            <a:ext cx="365760" cy="365760"/>
          </a:xfrm>
          <a:prstGeom prst="ellipse">
            <a:avLst/>
          </a:prstGeom>
          <a:solidFill>
            <a:srgbClr val="C9862B"/>
          </a:solidFill>
          <a:ln/>
        </p:spPr>
      </p:sp>
      <p:sp>
        <p:nvSpPr>
          <p:cNvPr id="9" name="Text 6"/>
          <p:cNvSpPr/>
          <p:nvPr/>
        </p:nvSpPr>
        <p:spPr>
          <a:xfrm>
            <a:off x="8229600" y="2148840"/>
            <a:ext cx="3017520" cy="365760"/>
          </a:xfrm>
          <a:prstGeom prst="rect">
            <a:avLst/>
          </a:prstGeom>
          <a:noFill/>
          <a:ln/>
        </p:spPr>
        <p:txBody>
          <a:bodyPr wrap="square" rtlCol="0" anchor="ctr"/>
          <a:lstStyle/>
          <a:p>
            <a:pPr indent="0" marL="0">
              <a:buNone/>
            </a:pPr>
            <a:r>
              <a:rPr lang="en-US" sz="1000" b="1" spc="150" kern="0" dirty="0">
                <a:solidFill>
                  <a:srgbClr val="C9862B"/>
                </a:solidFill>
                <a:latin typeface="Calibri" pitchFamily="34" charset="0"/>
                <a:ea typeface="Calibri" pitchFamily="34" charset="-122"/>
                <a:cs typeface="Calibri" pitchFamily="34" charset="-120"/>
              </a:rPr>
              <a:t>WARNING</a:t>
            </a:r>
            <a:endParaRPr lang="en-US" sz="1000" dirty="0"/>
          </a:p>
        </p:txBody>
      </p:sp>
      <p:sp>
        <p:nvSpPr>
          <p:cNvPr id="10" name="Text 7"/>
          <p:cNvSpPr/>
          <p:nvPr/>
        </p:nvSpPr>
        <p:spPr>
          <a:xfrm>
            <a:off x="7680960" y="2606040"/>
            <a:ext cx="3566160" cy="2651760"/>
          </a:xfrm>
          <a:prstGeom prst="rect">
            <a:avLst/>
          </a:prstGeom>
          <a:noFill/>
          <a:ln/>
        </p:spPr>
        <p:txBody>
          <a:bodyPr wrap="square" rtlCol="0" anchor="ctr"/>
          <a:lstStyle/>
          <a:p>
            <a:pPr indent="0" marL="0">
              <a:lnSpc>
                <a:spcPct val="130000"/>
              </a:lnSpc>
              <a:buNone/>
            </a:pPr>
            <a:r>
              <a:rPr lang="en-US" sz="1250" dirty="0">
                <a:solidFill>
                  <a:srgbClr val="20242E"/>
                </a:solidFill>
                <a:latin typeface="Calibri" pitchFamily="34" charset="0"/>
                <a:ea typeface="Calibri" pitchFamily="34" charset="-122"/>
                <a:cs typeface="Calibri" pitchFamily="34" charset="-120"/>
              </a:rPr>
              <a:t>The fastest way to get fired in your first 90 days: posting an adjusting entry without manager approval and supporting documentation. Every adjustment needs a ticket, an email chain, or a supervisor's sign-off. Never post based on your own judgment alone, no matter how obvious the fix seems.</a:t>
            </a:r>
            <a:endParaRPr lang="en-US" sz="1250" dirty="0"/>
          </a:p>
        </p:txBody>
      </p:sp>
      <p:sp>
        <p:nvSpPr>
          <p:cNvPr id="11" name="Text 8"/>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02920" y="457200"/>
            <a:ext cx="502920" cy="502920"/>
          </a:xfrm>
          <a:prstGeom prst="ellipse">
            <a:avLst/>
          </a:prstGeom>
          <a:solidFill>
            <a:srgbClr val="E8A33D"/>
          </a:solidFill>
          <a:ln/>
        </p:spPr>
      </p:sp>
      <p:sp>
        <p:nvSpPr>
          <p:cNvPr id="3" name="Text 1"/>
          <p:cNvSpPr/>
          <p:nvPr/>
        </p:nvSpPr>
        <p:spPr>
          <a:xfrm>
            <a:off x="502920" y="457200"/>
            <a:ext cx="502920" cy="502920"/>
          </a:xfrm>
          <a:prstGeom prst="rect">
            <a:avLst/>
          </a:prstGeom>
          <a:noFill/>
          <a:ln/>
        </p:spPr>
        <p:txBody>
          <a:bodyPr wrap="square" rtlCol="0" anchor="ctr"/>
          <a:lstStyle/>
          <a:p>
            <a:pPr algn="ctr" indent="0" marL="0">
              <a:buNone/>
            </a:pPr>
            <a:r>
              <a:rPr lang="en-US" sz="1600" b="1" dirty="0">
                <a:solidFill>
                  <a:srgbClr val="141B49"/>
                </a:solidFill>
                <a:latin typeface="Cambria" pitchFamily="34" charset="0"/>
                <a:ea typeface="Cambria" pitchFamily="34" charset="-122"/>
                <a:cs typeface="Cambria" pitchFamily="34" charset="-120"/>
              </a:rPr>
              <a:t>06</a:t>
            </a:r>
            <a:endParaRPr lang="en-US" sz="1600" dirty="0"/>
          </a:p>
        </p:txBody>
      </p:sp>
      <p:sp>
        <p:nvSpPr>
          <p:cNvPr id="4" name="Text 2"/>
          <p:cNvSpPr/>
          <p:nvPr/>
        </p:nvSpPr>
        <p:spPr>
          <a:xfrm>
            <a:off x="1234440" y="502920"/>
            <a:ext cx="9144000" cy="548640"/>
          </a:xfrm>
          <a:prstGeom prst="rect">
            <a:avLst/>
          </a:prstGeom>
          <a:noFill/>
          <a:ln/>
        </p:spPr>
        <p:txBody>
          <a:bodyPr wrap="square" rtlCol="0" anchor="ctr"/>
          <a:lstStyle/>
          <a:p>
            <a:pPr indent="0" marL="0">
              <a:buNone/>
            </a:pPr>
            <a:r>
              <a:rPr lang="en-US" sz="2400" b="1" dirty="0">
                <a:solidFill>
                  <a:srgbClr val="1E2761"/>
                </a:solidFill>
                <a:latin typeface="Cambria" pitchFamily="34" charset="0"/>
                <a:ea typeface="Cambria" pitchFamily="34" charset="-122"/>
                <a:cs typeface="Cambria" pitchFamily="34" charset="-120"/>
              </a:rPr>
              <a:t>Accounting vocabulary — the words that separate entry-level from experienced</a:t>
            </a:r>
            <a:endParaRPr lang="en-US" sz="2400" dirty="0"/>
          </a:p>
        </p:txBody>
      </p:sp>
      <p:sp>
        <p:nvSpPr>
          <p:cNvPr id="5" name="Shape 3"/>
          <p:cNvSpPr/>
          <p:nvPr/>
        </p:nvSpPr>
        <p:spPr>
          <a:xfrm>
            <a:off x="731520" y="1417320"/>
            <a:ext cx="3520440" cy="1874520"/>
          </a:xfrm>
          <a:prstGeom prst="roundRect">
            <a:avLst>
              <a:gd name="adj" fmla="val 4390"/>
            </a:avLst>
          </a:prstGeom>
          <a:solidFill>
            <a:srgbClr val="EEF3FC"/>
          </a:solidFill>
          <a:ln/>
        </p:spPr>
      </p:sp>
      <p:sp>
        <p:nvSpPr>
          <p:cNvPr id="6" name="Text 4"/>
          <p:cNvSpPr/>
          <p:nvPr/>
        </p:nvSpPr>
        <p:spPr>
          <a:xfrm>
            <a:off x="96012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General Ledger (GL)</a:t>
            </a:r>
            <a:endParaRPr lang="en-US" sz="1450" dirty="0"/>
          </a:p>
        </p:txBody>
      </p:sp>
      <p:sp>
        <p:nvSpPr>
          <p:cNvPr id="7" name="Text 5"/>
          <p:cNvSpPr/>
          <p:nvPr/>
        </p:nvSpPr>
        <p:spPr>
          <a:xfrm>
            <a:off x="96012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master record of all financial transactions. Every journal entry flows into the GL. When someone says 'pull it from the GL,' they mean look up the actual transaction history for a specific account.</a:t>
            </a:r>
            <a:endParaRPr lang="en-US" sz="1050" dirty="0"/>
          </a:p>
        </p:txBody>
      </p:sp>
      <p:sp>
        <p:nvSpPr>
          <p:cNvPr id="8" name="Shape 6"/>
          <p:cNvSpPr/>
          <p:nvPr/>
        </p:nvSpPr>
        <p:spPr>
          <a:xfrm>
            <a:off x="4480560" y="1417320"/>
            <a:ext cx="3520440" cy="1874520"/>
          </a:xfrm>
          <a:prstGeom prst="roundRect">
            <a:avLst>
              <a:gd name="adj" fmla="val 4390"/>
            </a:avLst>
          </a:prstGeom>
          <a:solidFill>
            <a:srgbClr val="EEF3FC"/>
          </a:solidFill>
          <a:ln/>
        </p:spPr>
      </p:sp>
      <p:sp>
        <p:nvSpPr>
          <p:cNvPr id="9" name="Text 7"/>
          <p:cNvSpPr/>
          <p:nvPr/>
        </p:nvSpPr>
        <p:spPr>
          <a:xfrm>
            <a:off x="470916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Chart of Accounts (COA)</a:t>
            </a:r>
            <a:endParaRPr lang="en-US" sz="1450" dirty="0"/>
          </a:p>
        </p:txBody>
      </p:sp>
      <p:sp>
        <p:nvSpPr>
          <p:cNvPr id="10" name="Text 8"/>
          <p:cNvSpPr/>
          <p:nvPr/>
        </p:nvSpPr>
        <p:spPr>
          <a:xfrm>
            <a:off x="470916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The numbered list of every account the company uses. Assets start with 1000, Liabilities with 2000, Equity with 3000, Revenue with 4000, Expenses with 5000-6999. Every company's COA is slightly different — learn yours on day one.</a:t>
            </a:r>
            <a:endParaRPr lang="en-US" sz="1050" dirty="0"/>
          </a:p>
        </p:txBody>
      </p:sp>
      <p:sp>
        <p:nvSpPr>
          <p:cNvPr id="11" name="Shape 9"/>
          <p:cNvSpPr/>
          <p:nvPr/>
        </p:nvSpPr>
        <p:spPr>
          <a:xfrm>
            <a:off x="8229600" y="1417320"/>
            <a:ext cx="3520440" cy="1874520"/>
          </a:xfrm>
          <a:prstGeom prst="roundRect">
            <a:avLst>
              <a:gd name="adj" fmla="val 4390"/>
            </a:avLst>
          </a:prstGeom>
          <a:solidFill>
            <a:srgbClr val="EEF3FC"/>
          </a:solidFill>
          <a:ln/>
        </p:spPr>
      </p:sp>
      <p:sp>
        <p:nvSpPr>
          <p:cNvPr id="12" name="Text 10"/>
          <p:cNvSpPr/>
          <p:nvPr/>
        </p:nvSpPr>
        <p:spPr>
          <a:xfrm>
            <a:off x="8458200" y="158191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Trial Balance</a:t>
            </a:r>
            <a:endParaRPr lang="en-US" sz="1450" dirty="0"/>
          </a:p>
        </p:txBody>
      </p:sp>
      <p:sp>
        <p:nvSpPr>
          <p:cNvPr id="13" name="Text 11"/>
          <p:cNvSpPr/>
          <p:nvPr/>
        </p:nvSpPr>
        <p:spPr>
          <a:xfrm>
            <a:off x="8458200" y="213055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report showing all accounts and their balances at a point in time. Debits must equal credits. Running a trial balance is one of the first things you do during month-end close to confirm nothing is out of balance.</a:t>
            </a:r>
            <a:endParaRPr lang="en-US" sz="1050" dirty="0"/>
          </a:p>
        </p:txBody>
      </p:sp>
      <p:sp>
        <p:nvSpPr>
          <p:cNvPr id="14" name="Shape 12"/>
          <p:cNvSpPr/>
          <p:nvPr/>
        </p:nvSpPr>
        <p:spPr>
          <a:xfrm>
            <a:off x="731520" y="3520440"/>
            <a:ext cx="3520440" cy="1874520"/>
          </a:xfrm>
          <a:prstGeom prst="roundRect">
            <a:avLst>
              <a:gd name="adj" fmla="val 4390"/>
            </a:avLst>
          </a:prstGeom>
          <a:solidFill>
            <a:srgbClr val="EEF3FC"/>
          </a:solidFill>
          <a:ln/>
        </p:spPr>
      </p:sp>
      <p:sp>
        <p:nvSpPr>
          <p:cNvPr id="15" name="Text 13"/>
          <p:cNvSpPr/>
          <p:nvPr/>
        </p:nvSpPr>
        <p:spPr>
          <a:xfrm>
            <a:off x="96012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Subledger</a:t>
            </a:r>
            <a:endParaRPr lang="en-US" sz="1450" dirty="0"/>
          </a:p>
        </p:txBody>
      </p:sp>
      <p:sp>
        <p:nvSpPr>
          <p:cNvPr id="16" name="Text 14"/>
          <p:cNvSpPr/>
          <p:nvPr/>
        </p:nvSpPr>
        <p:spPr>
          <a:xfrm>
            <a:off x="96012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 detailed record that feeds into the GL. AR has a subledger (one line per invoice per customer). AP has a subledger (one line per invoice per vendor). The subledger total must match the GL account balance — this is called 'tying the subledger.'</a:t>
            </a:r>
            <a:endParaRPr lang="en-US" sz="1050" dirty="0"/>
          </a:p>
        </p:txBody>
      </p:sp>
      <p:sp>
        <p:nvSpPr>
          <p:cNvPr id="17" name="Shape 15"/>
          <p:cNvSpPr/>
          <p:nvPr/>
        </p:nvSpPr>
        <p:spPr>
          <a:xfrm>
            <a:off x="4480560" y="3520440"/>
            <a:ext cx="3520440" cy="1874520"/>
          </a:xfrm>
          <a:prstGeom prst="roundRect">
            <a:avLst>
              <a:gd name="adj" fmla="val 4390"/>
            </a:avLst>
          </a:prstGeom>
          <a:solidFill>
            <a:srgbClr val="EEF3FC"/>
          </a:solidFill>
          <a:ln/>
        </p:spPr>
      </p:sp>
      <p:sp>
        <p:nvSpPr>
          <p:cNvPr id="18" name="Text 16"/>
          <p:cNvSpPr/>
          <p:nvPr/>
        </p:nvSpPr>
        <p:spPr>
          <a:xfrm>
            <a:off x="470916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Accrual</a:t>
            </a:r>
            <a:endParaRPr lang="en-US" sz="1450" dirty="0"/>
          </a:p>
        </p:txBody>
      </p:sp>
      <p:sp>
        <p:nvSpPr>
          <p:cNvPr id="19" name="Text 17"/>
          <p:cNvSpPr/>
          <p:nvPr/>
        </p:nvSpPr>
        <p:spPr>
          <a:xfrm>
            <a:off x="470916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An entry to record an expense or revenue that has been earned or incurred but not yet invoiced or paid. Example: your offshore draftsmen worked 2,000 hours in January that won't be invoiced until February — you still accrue the expense in January.</a:t>
            </a:r>
            <a:endParaRPr lang="en-US" sz="1050" dirty="0"/>
          </a:p>
        </p:txBody>
      </p:sp>
      <p:sp>
        <p:nvSpPr>
          <p:cNvPr id="20" name="Shape 18"/>
          <p:cNvSpPr/>
          <p:nvPr/>
        </p:nvSpPr>
        <p:spPr>
          <a:xfrm>
            <a:off x="8229600" y="3520440"/>
            <a:ext cx="3520440" cy="1874520"/>
          </a:xfrm>
          <a:prstGeom prst="roundRect">
            <a:avLst>
              <a:gd name="adj" fmla="val 4390"/>
            </a:avLst>
          </a:prstGeom>
          <a:solidFill>
            <a:srgbClr val="EEF3FC"/>
          </a:solidFill>
          <a:ln/>
        </p:spPr>
      </p:sp>
      <p:sp>
        <p:nvSpPr>
          <p:cNvPr id="21" name="Text 19"/>
          <p:cNvSpPr/>
          <p:nvPr/>
        </p:nvSpPr>
        <p:spPr>
          <a:xfrm>
            <a:off x="8458200" y="3685032"/>
            <a:ext cx="3063240" cy="548640"/>
          </a:xfrm>
          <a:prstGeom prst="rect">
            <a:avLst/>
          </a:prstGeom>
          <a:noFill/>
          <a:ln/>
        </p:spPr>
        <p:txBody>
          <a:bodyPr wrap="square" rtlCol="0" anchor="ctr"/>
          <a:lstStyle/>
          <a:p>
            <a:pPr indent="0" marL="0">
              <a:buNone/>
            </a:pPr>
            <a:r>
              <a:rPr lang="en-US" sz="1450" b="1" dirty="0">
                <a:solidFill>
                  <a:srgbClr val="1E2761"/>
                </a:solidFill>
                <a:latin typeface="Cambria" pitchFamily="34" charset="0"/>
                <a:ea typeface="Cambria" pitchFamily="34" charset="-122"/>
                <a:cs typeface="Cambria" pitchFamily="34" charset="-120"/>
              </a:rPr>
              <a:t>Prepaid Expense</a:t>
            </a:r>
            <a:endParaRPr lang="en-US" sz="1450" dirty="0"/>
          </a:p>
        </p:txBody>
      </p:sp>
      <p:sp>
        <p:nvSpPr>
          <p:cNvPr id="22" name="Text 20"/>
          <p:cNvSpPr/>
          <p:nvPr/>
        </p:nvSpPr>
        <p:spPr>
          <a:xfrm>
            <a:off x="8458200" y="4233672"/>
            <a:ext cx="3063240" cy="1005840"/>
          </a:xfrm>
          <a:prstGeom prst="rect">
            <a:avLst/>
          </a:prstGeom>
          <a:noFill/>
          <a:ln/>
        </p:spPr>
        <p:txBody>
          <a:bodyPr wrap="square" rtlCol="0" anchor="ctr"/>
          <a:lstStyle/>
          <a:p>
            <a:pPr indent="0" marL="0">
              <a:lnSpc>
                <a:spcPct val="120000"/>
              </a:lnSpc>
              <a:buNone/>
            </a:pPr>
            <a:r>
              <a:rPr lang="en-US" sz="1050" dirty="0">
                <a:solidFill>
                  <a:srgbClr val="5B6472"/>
                </a:solidFill>
                <a:latin typeface="Calibri" pitchFamily="34" charset="0"/>
                <a:ea typeface="Calibri" pitchFamily="34" charset="-122"/>
                <a:cs typeface="Calibri" pitchFamily="34" charset="-120"/>
              </a:rPr>
              <a:t>Cash paid now for something that benefits a future period. If you pay $48,000 for an annual ArcGIS license in January, you debit Prepaid Software $48,000 and credit Cash. Then each month you expense $4,000 as the benefit is consumed.</a:t>
            </a:r>
            <a:endParaRPr lang="en-US" sz="1050" dirty="0"/>
          </a:p>
        </p:txBody>
      </p:sp>
      <p:sp>
        <p:nvSpPr>
          <p:cNvPr id="23" name="Text 21"/>
          <p:cNvSpPr/>
          <p:nvPr/>
        </p:nvSpPr>
        <p:spPr>
          <a:xfrm>
            <a:off x="457200" y="6492240"/>
            <a:ext cx="7315200" cy="274320"/>
          </a:xfrm>
          <a:prstGeom prst="rect">
            <a:avLst/>
          </a:prstGeom>
          <a:noFill/>
          <a:ln/>
        </p:spPr>
        <p:txBody>
          <a:bodyPr wrap="square" rtlCol="0" anchor="ctr"/>
          <a:lstStyle/>
          <a:p>
            <a:pPr indent="0" marL="0">
              <a:buNone/>
            </a:pPr>
            <a:r>
              <a:rPr lang="en-US" sz="900" dirty="0">
                <a:solidFill>
                  <a:srgbClr val="5B6472"/>
                </a:solidFill>
                <a:latin typeface="Calibri" pitchFamily="34" charset="0"/>
                <a:ea typeface="Calibri" pitchFamily="34" charset="-122"/>
                <a:cs typeface="Calibri" pitchFamily="34" charset="-120"/>
              </a:rPr>
              <a:t>Module 01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10241280" y="-1097280"/>
            <a:ext cx="3657600" cy="3657600"/>
          </a:xfrm>
          <a:prstGeom prst="ellipse">
            <a:avLst/>
          </a:prstGeom>
          <a:solidFill>
            <a:srgbClr val="141B49"/>
          </a:solidFill>
          <a:ln/>
        </p:spPr>
      </p:sp>
      <p:sp>
        <p:nvSpPr>
          <p:cNvPr id="3" name="Text 1"/>
          <p:cNvSpPr/>
          <p:nvPr/>
        </p:nvSpPr>
        <p:spPr>
          <a:xfrm>
            <a:off x="731520" y="502920"/>
            <a:ext cx="5486400" cy="365760"/>
          </a:xfrm>
          <a:prstGeom prst="rect">
            <a:avLst/>
          </a:prstGeom>
          <a:noFill/>
          <a:ln/>
        </p:spPr>
        <p:txBody>
          <a:bodyPr wrap="square" rtlCol="0" anchor="ctr"/>
          <a:lstStyle/>
          <a:p>
            <a:pPr indent="0" marL="0">
              <a:buNone/>
            </a:pPr>
            <a:r>
              <a:rPr lang="en-US" sz="1200" b="1" spc="200" kern="0" dirty="0">
                <a:solidFill>
                  <a:srgbClr val="E8A33D"/>
                </a:solidFill>
                <a:latin typeface="Calibri" pitchFamily="34" charset="0"/>
                <a:ea typeface="Calibri" pitchFamily="34" charset="-122"/>
                <a:cs typeface="Calibri" pitchFamily="34" charset="-120"/>
              </a:rPr>
              <a:t>SELF-CHECK</a:t>
            </a:r>
            <a:endParaRPr lang="en-US" sz="1200" dirty="0"/>
          </a:p>
        </p:txBody>
      </p:sp>
      <p:sp>
        <p:nvSpPr>
          <p:cNvPr id="4" name="Text 2"/>
          <p:cNvSpPr/>
          <p:nvPr/>
        </p:nvSpPr>
        <p:spPr>
          <a:xfrm>
            <a:off x="731520" y="868680"/>
            <a:ext cx="10058400" cy="64008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Reality Check — How much do you actually know?</a:t>
            </a:r>
            <a:endParaRPr lang="en-US" sz="2400" dirty="0"/>
          </a:p>
        </p:txBody>
      </p:sp>
      <p:sp>
        <p:nvSpPr>
          <p:cNvPr id="5" name="Shape 3"/>
          <p:cNvSpPr/>
          <p:nvPr/>
        </p:nvSpPr>
        <p:spPr>
          <a:xfrm>
            <a:off x="731520" y="1783080"/>
            <a:ext cx="384048" cy="384048"/>
          </a:xfrm>
          <a:prstGeom prst="ellipse">
            <a:avLst/>
          </a:prstGeom>
          <a:solidFill>
            <a:srgbClr val="E8A33D"/>
          </a:solidFill>
          <a:ln/>
        </p:spPr>
      </p:sp>
      <p:sp>
        <p:nvSpPr>
          <p:cNvPr id="6" name="Text 4"/>
          <p:cNvSpPr/>
          <p:nvPr/>
        </p:nvSpPr>
        <p:spPr>
          <a:xfrm>
            <a:off x="731520" y="178308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1</a:t>
            </a:r>
            <a:endParaRPr lang="en-US" sz="1300" dirty="0"/>
          </a:p>
        </p:txBody>
      </p:sp>
      <p:sp>
        <p:nvSpPr>
          <p:cNvPr id="7" name="Text 5"/>
          <p:cNvSpPr/>
          <p:nvPr/>
        </p:nvSpPr>
        <p:spPr>
          <a:xfrm>
            <a:off x="1280160" y="176479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Skarion Engineering delivers a 500-mile High-Level Design (HLD) package to a client on January 28th. The client pays on March 15th. Under accrual accounting, when is the revenue recognized?</a:t>
            </a:r>
            <a:endParaRPr lang="en-US" sz="1400" dirty="0"/>
          </a:p>
        </p:txBody>
      </p:sp>
      <p:sp>
        <p:nvSpPr>
          <p:cNvPr id="8" name="Shape 6"/>
          <p:cNvSpPr/>
          <p:nvPr/>
        </p:nvSpPr>
        <p:spPr>
          <a:xfrm>
            <a:off x="731520" y="3200400"/>
            <a:ext cx="384048" cy="384048"/>
          </a:xfrm>
          <a:prstGeom prst="ellipse">
            <a:avLst/>
          </a:prstGeom>
          <a:solidFill>
            <a:srgbClr val="E8A33D"/>
          </a:solidFill>
          <a:ln/>
        </p:spPr>
      </p:sp>
      <p:sp>
        <p:nvSpPr>
          <p:cNvPr id="9" name="Text 7"/>
          <p:cNvSpPr/>
          <p:nvPr/>
        </p:nvSpPr>
        <p:spPr>
          <a:xfrm>
            <a:off x="731520" y="320040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280160" y="318211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What is the difference between a debit and a credit in accounting?</a:t>
            </a:r>
            <a:endParaRPr lang="en-US" sz="1400" dirty="0"/>
          </a:p>
        </p:txBody>
      </p:sp>
      <p:sp>
        <p:nvSpPr>
          <p:cNvPr id="11" name="Shape 9"/>
          <p:cNvSpPr/>
          <p:nvPr/>
        </p:nvSpPr>
        <p:spPr>
          <a:xfrm>
            <a:off x="731520" y="4617720"/>
            <a:ext cx="384048" cy="384048"/>
          </a:xfrm>
          <a:prstGeom prst="ellipse">
            <a:avLst/>
          </a:prstGeom>
          <a:solidFill>
            <a:srgbClr val="E8A33D"/>
          </a:solidFill>
          <a:ln/>
        </p:spPr>
      </p:sp>
      <p:sp>
        <p:nvSpPr>
          <p:cNvPr id="12" name="Text 10"/>
          <p:cNvSpPr/>
          <p:nvPr/>
        </p:nvSpPr>
        <p:spPr>
          <a:xfrm>
            <a:off x="731520" y="4617720"/>
            <a:ext cx="384048" cy="384048"/>
          </a:xfrm>
          <a:prstGeom prst="rect">
            <a:avLst/>
          </a:prstGeom>
          <a:noFill/>
          <a:ln/>
        </p:spPr>
        <p:txBody>
          <a:bodyPr wrap="square" rtlCol="0" anchor="ctr"/>
          <a:lstStyle/>
          <a:p>
            <a:pPr algn="ctr" indent="0" marL="0">
              <a:buNone/>
            </a:pPr>
            <a:r>
              <a:rPr lang="en-US" sz="1300" b="1" dirty="0">
                <a:solidFill>
                  <a:srgbClr val="141B49"/>
                </a:solidFill>
                <a:latin typeface="Calibri" pitchFamily="34" charset="0"/>
                <a:ea typeface="Calibri" pitchFamily="34" charset="-122"/>
                <a:cs typeface="Calibri" pitchFamily="34" charset="-120"/>
              </a:rPr>
              <a:t>3</a:t>
            </a:r>
            <a:endParaRPr lang="en-US" sz="1300" dirty="0"/>
          </a:p>
        </p:txBody>
      </p:sp>
      <p:sp>
        <p:nvSpPr>
          <p:cNvPr id="13" name="Text 11"/>
          <p:cNvSpPr/>
          <p:nvPr/>
        </p:nvSpPr>
        <p:spPr>
          <a:xfrm>
            <a:off x="1280160" y="4599432"/>
            <a:ext cx="9784080" cy="822960"/>
          </a:xfrm>
          <a:prstGeom prst="rect">
            <a:avLst/>
          </a:prstGeom>
          <a:noFill/>
          <a:ln/>
        </p:spPr>
        <p:txBody>
          <a:bodyPr wrap="square" rtlCol="0" anchor="ctr"/>
          <a:lstStyle/>
          <a:p>
            <a:pPr indent="0" marL="0">
              <a:lnSpc>
                <a:spcPct val="125000"/>
              </a:lnSpc>
              <a:buNone/>
            </a:pPr>
            <a:r>
              <a:rPr lang="en-US" sz="1400" dirty="0">
                <a:solidFill>
                  <a:srgbClr val="CADCFC"/>
                </a:solidFill>
                <a:latin typeface="Calibri" pitchFamily="34" charset="0"/>
                <a:ea typeface="Calibri" pitchFamily="34" charset="-122"/>
                <a:cs typeface="Calibri" pitchFamily="34" charset="-120"/>
              </a:rPr>
              <a:t>A staff accountant notices a $4,200 variance between the AP subledger and the GL account 2000. What is the correct first step?</a:t>
            </a:r>
            <a:endParaRPr lang="en-US" sz="1400" dirty="0"/>
          </a:p>
        </p:txBody>
      </p:sp>
      <p:sp>
        <p:nvSpPr>
          <p:cNvPr id="14" name="Text 12"/>
          <p:cNvSpPr/>
          <p:nvPr/>
        </p:nvSpPr>
        <p:spPr>
          <a:xfrm>
            <a:off x="731520" y="6309360"/>
            <a:ext cx="9144000" cy="274320"/>
          </a:xfrm>
          <a:prstGeom prst="rect">
            <a:avLst/>
          </a:prstGeom>
          <a:noFill/>
          <a:ln/>
        </p:spPr>
        <p:txBody>
          <a:bodyPr wrap="square" rtlCol="0" anchor="ctr"/>
          <a:lstStyle/>
          <a:p>
            <a:pPr indent="0" marL="0">
              <a:buNone/>
            </a:pPr>
            <a:r>
              <a:rPr lang="en-US" sz="1000" i="1" dirty="0">
                <a:solidFill>
                  <a:srgbClr val="5B6472"/>
                </a:solidFill>
                <a:latin typeface="Calibri" pitchFamily="34" charset="0"/>
                <a:ea typeface="Calibri" pitchFamily="34" charset="-122"/>
                <a:cs typeface="Calibri" pitchFamily="34" charset="-120"/>
              </a:rPr>
              <a:t>Answer choices and full explanations are in the interactive lesson.</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4937760" y="914400"/>
            <a:ext cx="2286000" cy="2286000"/>
          </a:xfrm>
          <a:prstGeom prst="ellipse">
            <a:avLst/>
          </a:prstGeom>
          <a:solidFill>
            <a:srgbClr val="E8A33D"/>
          </a:solidFill>
          <a:ln/>
        </p:spPr>
      </p:sp>
      <p:sp>
        <p:nvSpPr>
          <p:cNvPr id="3" name="Text 1"/>
          <p:cNvSpPr/>
          <p:nvPr/>
        </p:nvSpPr>
        <p:spPr>
          <a:xfrm>
            <a:off x="4937760" y="914400"/>
            <a:ext cx="2286000" cy="2286000"/>
          </a:xfrm>
          <a:prstGeom prst="rect">
            <a:avLst/>
          </a:prstGeom>
          <a:noFill/>
          <a:ln/>
        </p:spPr>
        <p:txBody>
          <a:bodyPr wrap="square" rtlCol="0" anchor="ctr"/>
          <a:lstStyle/>
          <a:p>
            <a:pPr algn="ctr" indent="0" marL="0">
              <a:buNone/>
            </a:pPr>
            <a:r>
              <a:rPr lang="en-US" sz="6000" b="1" dirty="0">
                <a:solidFill>
                  <a:srgbClr val="141B49"/>
                </a:solidFill>
                <a:latin typeface="Cambria" pitchFamily="34" charset="0"/>
                <a:ea typeface="Cambria" pitchFamily="34" charset="-122"/>
                <a:cs typeface="Cambria" pitchFamily="34" charset="-120"/>
              </a:rPr>
              <a:t>✓</a:t>
            </a:r>
            <a:endParaRPr lang="en-US" sz="6000" dirty="0"/>
          </a:p>
        </p:txBody>
      </p:sp>
      <p:sp>
        <p:nvSpPr>
          <p:cNvPr id="4" name="Text 2"/>
          <p:cNvSpPr/>
          <p:nvPr/>
        </p:nvSpPr>
        <p:spPr>
          <a:xfrm>
            <a:off x="1645920" y="3566160"/>
            <a:ext cx="8869680" cy="731520"/>
          </a:xfrm>
          <a:prstGeom prst="rect">
            <a:avLst/>
          </a:prstGeom>
          <a:noFill/>
          <a:ln/>
        </p:spPr>
        <p:txBody>
          <a:bodyPr wrap="square"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Module complete</a:t>
            </a:r>
            <a:endParaRPr lang="en-US" sz="3000" dirty="0"/>
          </a:p>
        </p:txBody>
      </p:sp>
      <p:sp>
        <p:nvSpPr>
          <p:cNvPr id="5" name="Text 3"/>
          <p:cNvSpPr/>
          <p:nvPr/>
        </p:nvSpPr>
        <p:spPr>
          <a:xfrm>
            <a:off x="1645920" y="4206240"/>
            <a:ext cx="8869680" cy="457200"/>
          </a:xfrm>
          <a:prstGeom prst="rect">
            <a:avLst/>
          </a:prstGeom>
          <a:noFill/>
          <a:ln/>
        </p:spPr>
        <p:txBody>
          <a:bodyPr wrap="square" rtlCol="0" anchor="ctr"/>
          <a:lstStyle/>
          <a:p>
            <a:pPr algn="ctr" indent="0" marL="0">
              <a:buNone/>
            </a:pPr>
            <a:r>
              <a:rPr lang="en-US" sz="1500" dirty="0">
                <a:solidFill>
                  <a:srgbClr val="CADCFC"/>
                </a:solidFill>
                <a:latin typeface="Calibri" pitchFamily="34" charset="0"/>
                <a:ea typeface="Calibri" pitchFamily="34" charset="-122"/>
                <a:cs typeface="Calibri" pitchFamily="34" charset="-120"/>
              </a:rPr>
              <a:t>The Accounting Profession — Reality vs. The Textbook</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Accounting Profession — Reality vs. The Textbook</dc:title>
  <dc:subject>PptxGenJS Presentation</dc:subject>
  <dc:creator>Skarion Accounting Track</dc:creator>
  <cp:lastModifiedBy>Skarion Accounting Track</cp:lastModifiedBy>
  <cp:revision>1</cp:revision>
  <dcterms:created xsi:type="dcterms:W3CDTF">2026-07-16T04:11:38Z</dcterms:created>
  <dcterms:modified xsi:type="dcterms:W3CDTF">2026-07-16T04:11:38Z</dcterms:modified>
</cp:coreProperties>
</file>