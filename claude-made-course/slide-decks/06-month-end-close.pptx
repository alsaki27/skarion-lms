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06</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Month-End Close &amp; Financial Statements</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The five-day close calendar that turns a month of transactions into auditable financial statements, the adjusting entries that make accruals honest, and the three statements that roll up the result.</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6</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"Walk me through a month-end close." The interview answer is the five-day timeline, the four types of adjusting entries, and the $242,000 January net income that comes out the other side. This module is that entire walkthrough.</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WHY IT EXISTS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month-end close process</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Month-end close exists because financial statements are produced once per period , and they must be accurate, complete, and timely. Incomplete or wrong statements lead to bad decisions, missed covenants, and audit findings. The close is governed by a close checklist in which every task has an owner, a due date, a status, and supporting documentation.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discipline that makes a close work: lock the prior period once it is closed so late entries can't silently change history, and tie every subledger (AR, AP, payroll) back to the GL control account before you declare the period done.</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Hard close vs. soft close. A hard close locks the period permanently — no further entries except through a formal adjustment in the next period. A soft close leaves the period open for corrections up to the audit, usually for recurring accrual estimates. Public companies essentially always hard-close; private mid-size firms like Skarion typically soft-close then hard-close at year-end.</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CALENDAR</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Skarion's 5-day close timeline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3566160"/>
                <a:gridCol w="3566160"/>
                <a:gridCol w="3566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Day 1</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Feb 1</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Lock timesheets, lock AP, generate AP aging, post all outstanding invoices.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Day 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Feb 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Post payroll entry and employer taxes, book all offshore contractor accruals, amortize prepaids.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Day 3</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Feb 3</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Calculate WIP, post depreciation, post loan interest accrual, run trial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Day 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Feb 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Bank reconciliation, tie AR subledger to GL, tie AP subledger to GL.</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Day 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Feb 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Review P&amp;L vs. prior month and budget, produce financial statement package, controller sign-off.</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HEART OF CLOSE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Adjusting entries — and the four types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5349240"/>
                <a:gridCol w="53492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Skarion example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Accrued Revenues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Engineers spent 400 hours on an HLD that is 60% complete and not yet billable — book Unbilled AR (WIP) and revenue.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Accrued Expenses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Offshore drafting done Jan 31, invoice not arriving until Feb 4 — accrue COGS now.</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Deferred Revenues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Client prepaid $120,000; deliver the work and release it from Deferred Revenue to earned revenue.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Deferred Expenses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$36,000 prepaid Vetro license amortized $3,000/month to Software Expense.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Accrue offshore drafting done but not yet invoiced</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Global CAD Solutions finished $14,800 of drafting on January 31st. The invoice arrives February 4th. Under accrual accounting the expense belongs in January. Accrue it now (reverse it on Feb 1 before the real invoice is entered).</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5100 - COGS — Subcontractor Drafting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$14800.00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2400 - Accrued Liabilities</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$14800.00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08</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Amortize the Vetro license for January</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The $36,000 Vetro FiberMap license was paid July 1st and recorded as Prepaid Software. 12-month straight-line amortization = $3,000/month . Record January's amortization: move $3,000 from the Prepaid asset into Software Expense.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6500 - Software &amp; Subscriptions</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1400 - Prepaid Software Licenses</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Post monthly straight-line depreciation</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Skarion capitalizes 5 GIS workstations at $12,000 each ($60,000 total), 5-year useful life, $0 salvage. Straight-line depreciation = $1,000/month total ($200/month each). Record January's depreciation.</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6700 - Depreciation Expense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1590 - Accumulated Depreciation</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10</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Accrue January loan interest</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Skarion carries a $500,000 term loan at 6.5% annual interest. January's accrued interest = $500,000 × 6.5% ÷ 12 = $2,708.33 . Accrue the interest (it has been incurred even though the cash payment is later).</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6800 - Interest Expense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$2708.33</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2300 - Accrued Interest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$2708.33</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Recognize unbilled WIP revenue</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Engineers spent 400 hours on an HLD in January at a blended rate of $85/hr = $34,000 of work. The HLD is 60% complete and not yet billable. Under the percentage-of-completion method, recognize the earned-but-unbilled portion: Dr Unbilled AR (WIP) $34,000 / Cr Engineering Design Revenue $34,000.</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1200 - Unbilled AR (WIP)</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$34000.00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4000 - Engineering Design Revenue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$34000.00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DELIVERABLE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three core financial statements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3566160"/>
                <a:gridCol w="3566160"/>
                <a:gridCol w="3566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Formula</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Skarion Jan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Gross margin %</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(Revenue − COGS) ÷ Revenue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($480K − $140K) ÷ $480K = 70.8%</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Operating margin %</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(Revenue − COGS − OpEx) ÷ Revenue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$242K ÷ $480K = 50.4%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Current ratio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Current Assets ÷ Current Liabilities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cash &amp; AR heavy — liquidity check</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DSO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Average AR ÷ Credit Revenue × 365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$997,700 ÷ $4.8M × 365 = 75.8 days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Month-end close &amp; financial statements quiz</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What is the purpose of a closing entry at year-end?</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Skarion's January revenue is $480,000. COGS is $140,000. What is the gross profit margin?</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Which financial statement shows whether the company can pay its bills next month (liquidity)?</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Month-End Close &amp; Financial Statements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Month-End Close &amp; Financial Statements</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